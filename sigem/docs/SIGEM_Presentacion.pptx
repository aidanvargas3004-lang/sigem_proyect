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ada" id="{a75e9fdb-8e41-59da-43f4-6f2e20ab9a73}">
          <p14:sldIdLst>
            <p14:sldId id="256"/>
          </p14:sldIdLst>
        </p14:section>
        <p14:section name="Arquitectura" id="{851d0d3c-9a7b-6f9f-19cc-3f071e70ed8f}">
          <p14:sldIdLst>
            <p14:sldId id="257"/>
          </p14:sldIdLst>
        </p14:section>
        <p14:section name="Interfaces UX/UI" id="{0163d10b-3af9-8791-ff39-6303b1a8c780}">
          <p14:sldIdLst>
            <p14:sldId id="258"/>
            <p14:sldId id="259"/>
          </p14:sldIdLst>
        </p14:section>
        <p14:section name="Clases y mantenimientos" id="{b0ac61e7-6c07-e53d-f026-f36ae384246c}">
          <p14:sldIdLst>
            <p14:sldId id="260"/>
            <p14:sldId id="261"/>
          </p14:sldIdLst>
        </p14:section>
        <p14:section name="Respaldo y BBDD" id="{59a2d625-53cb-a7e4-1f3b-fa776f95df4e}">
          <p14:sldIdLst>
            <p14:sldId id="262"/>
            <p14:sldId id="263"/>
          </p14:sldIdLst>
        </p14:section>
        <p14:section name="Cierre" id="{b1c45712-7155-9f1f-3a52-ffa1f4cca145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Buenos días. Somos el Grupo 2 y presentamos SIGEM, el Sistema Integral de Gestión de Flotas y Maquinaria para TRANSUR. En cinco minutos mostraremos la arquitectura, las interfaces UX/UI, las clases y mantenimientos, y el respaldo de la base de datos, todo funcionando.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SIGEM es un monolito modular en capas. El frontend son vistas Thymeleaf con Bootstrap; el backend es Spring Boot con controladores MVC y API REST, servicios con las reglas de negocio y Spring Security; la persistencia es PostgreSQL, accedida con repositorios JPA y DAO JDBC. Cada petición atraviesa la seguridad, llega al controlador, que delega en el servicio, y este usa el DAO para leer o grabar en la 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rol entra a su propio panel con menú lateral. Aquí, en Operaciones, se cierra un servicio: el sistema calcula 8,5 horas y 85 km de uso facturable. Los formularios validan los datos y la gerencia ve sus indicadores. [Demostración en vivo: entrar como operaciones y abrir Servicios → Ejecutar].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vista es HTML con atributos Thymeleaf: th:action arma la URL y agrega el token CSRF, th:min impide lecturas menores a las iniciales. El formulario envía un POST al controlador, que no tiene lógica de negocio: llama al servicio y redirige a la vista con un mensaje de confirmación o de 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modelo son entidades JPA, como PlanMantenimiento, que además calcula su propia situación: OK, próximo al 90 % o vencido. El acceso a datos lo hacen repositorios Spring Data, nuestro patrón DAO, con consultas por nombre de método. Y las reglas viven en el servicio: completar una orden exige que esté en proceso, actualiza el horómetro, reinicia el plan preventivo y libera la unidad.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Así funciona el mantenimiento: se programa la orden, al iniciarla la unidad queda bloqueada, los repuestos se descuentan del almacén y al completarla se calcula el costo, se reinicia el plan preventivo y la unidad vuelve a estar disponible. [Demostración: Mantenimiento → orden → Iniciar → Repuesto → Completar].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el respaldo agregamos un módulo solo para el administrador. Muestra la configuración de la conexión: motor PostgreSQL 16, servidor, puerto, base, tamaño y 45 tablas. El respaldo se genera solo cada día y también con un botón; se puede descargar y restaurar con un script. [Demostración: admin → Respaldos y BD → Generar respaldo ahora → Descargar].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servicio de respaldo se programa con @Scheduled y ejecuta pg_dump con los datos de conexión de application.properties; la contraseña viaja como variable de entorno. Probamos restaurar un respaldo en una base nueva y se recuperaron todos los registros.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resumen: implementamos los 18 requisitos funcionales, con 43 pruebas automatizadas en verde, 45 tablas en PostgreSQL y 8 roles. La arquitectura en capas con DTO, DAO y SOLID nos permitió agregar auditoría y respaldos sin romper lo existente. Gracias, quedamos atentos a sus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SIGEM · TRANSUR S.A.C. · Curso Integrador I — Grupo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rso"/>
          <p:cNvSpPr txBox="1"/>
          <p:nvPr/>
        </p:nvSpPr>
        <p:spPr>
          <a:xfrm>
            <a:off x="640080" y="8229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CURSO INTEGRADOR I · SISTEMAS – SOFTWARE</a:t>
            </a:r>
            <a:endParaRPr lang="en-US" sz="1400" dirty="0"/>
          </a:p>
        </p:txBody>
      </p:sp>
      <p:sp>
        <p:nvSpPr>
          <p:cNvPr id="3" name="titulo"/>
          <p:cNvSpPr txBox="1"/>
          <p:nvPr/>
        </p:nvSpPr>
        <p:spPr>
          <a:xfrm>
            <a:off x="640080" y="141732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SIGEM</a:t>
            </a:r>
            <a:endParaRPr lang="en-US" sz="7200" dirty="0"/>
          </a:p>
        </p:txBody>
      </p:sp>
      <p:sp>
        <p:nvSpPr>
          <p:cNvPr id="4" name="subtitulo"/>
          <p:cNvSpPr txBox="1"/>
          <p:nvPr/>
        </p:nvSpPr>
        <p:spPr>
          <a:xfrm>
            <a:off x="640080" y="26517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Integral de Gestión de Flotas y Maquinaria</a:t>
            </a:r>
            <a:endParaRPr lang="en-US" sz="2600" dirty="0"/>
          </a:p>
        </p:txBody>
      </p:sp>
      <p:sp>
        <p:nvSpPr>
          <p:cNvPr id="5" name="tema"/>
          <p:cNvSpPr txBox="1"/>
          <p:nvPr/>
        </p:nvSpPr>
        <p:spPr>
          <a:xfrm>
            <a:off x="640080" y="370332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Implementación: interfaces UX/UI, clases y mantenimientos, respaldo de la BBDD y arquitectura de software</a:t>
            </a:r>
            <a:endParaRPr lang="en-US" sz="1500" dirty="0"/>
          </a:p>
        </p:txBody>
      </p:sp>
      <p:sp>
        <p:nvSpPr>
          <p:cNvPr id="6" name="lugar"/>
          <p:cNvSpPr txBox="1"/>
          <p:nvPr/>
        </p:nvSpPr>
        <p:spPr>
          <a:xfrm>
            <a:off x="640080" y="5806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TRANSUR S.A.C. · Arequipa – Perú · 2026</a:t>
            </a:r>
            <a:endParaRPr lang="en-US" sz="1400" dirty="0"/>
          </a:p>
        </p:txBody>
      </p:sp>
      <p:sp>
        <p:nvSpPr>
          <p:cNvPr id="7" name="tarjeta"/>
          <p:cNvSpPr/>
          <p:nvPr/>
        </p:nvSpPr>
        <p:spPr>
          <a:xfrm>
            <a:off x="7589520" y="685800"/>
            <a:ext cx="3977640" cy="5486400"/>
          </a:xfrm>
          <a:prstGeom prst="roundRect">
            <a:avLst>
              <a:gd name="adj" fmla="val 275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8" name="logo UTP" descr="/tmp/claude-0/-home-user-Sigem-Proyect/d0cfea49-2aed-54b6-8bc8-7e1babbccb9a/scratchpad/un/word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960120"/>
            <a:ext cx="2194560" cy="480713"/>
          </a:xfrm>
          <a:prstGeom prst="rect">
            <a:avLst/>
          </a:prstGeom>
        </p:spPr>
      </p:pic>
      <p:sp>
        <p:nvSpPr>
          <p:cNvPr id="9" name="facultad"/>
          <p:cNvSpPr txBox="1"/>
          <p:nvPr/>
        </p:nvSpPr>
        <p:spPr>
          <a:xfrm>
            <a:off x="7909560" y="15544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Facultad de Ingeniería · Ing. de Sistemas e Informática / Ing. de Software</a:t>
            </a:r>
            <a:endParaRPr lang="en-US" sz="1100" dirty="0"/>
          </a:p>
        </p:txBody>
      </p:sp>
      <p:sp>
        <p:nvSpPr>
          <p:cNvPr id="10" name="integrantes titulo"/>
          <p:cNvSpPr txBox="1"/>
          <p:nvPr/>
        </p:nvSpPr>
        <p:spPr>
          <a:xfrm>
            <a:off x="7909560" y="2240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INTEGRANTES</a:t>
            </a:r>
            <a:endParaRPr lang="en-US" sz="1300" dirty="0"/>
          </a:p>
        </p:txBody>
      </p:sp>
      <p:sp>
        <p:nvSpPr>
          <p:cNvPr id="11" name="integrante 1"/>
          <p:cNvSpPr txBox="1"/>
          <p:nvPr/>
        </p:nvSpPr>
        <p:spPr>
          <a:xfrm>
            <a:off x="7909560" y="2651760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Hilaccama Choque, Sujey Yliana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CUI U23241152</a:t>
            </a:r>
            <a:endParaRPr lang="en-US" sz="1400" dirty="0"/>
          </a:p>
        </p:txBody>
      </p:sp>
      <p:sp>
        <p:nvSpPr>
          <p:cNvPr id="12" name="integrante 2"/>
          <p:cNvSpPr txBox="1"/>
          <p:nvPr/>
        </p:nvSpPr>
        <p:spPr>
          <a:xfrm>
            <a:off x="7909560" y="3310128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Mamani Vargas, Abel Valerio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CUI U21304236</a:t>
            </a:r>
            <a:endParaRPr lang="en-US" sz="1400" dirty="0"/>
          </a:p>
        </p:txBody>
      </p:sp>
      <p:sp>
        <p:nvSpPr>
          <p:cNvPr id="13" name="integrante 3"/>
          <p:cNvSpPr txBox="1"/>
          <p:nvPr/>
        </p:nvSpPr>
        <p:spPr>
          <a:xfrm>
            <a:off x="7909560" y="3968496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Rodriguez Huillca, Juan Ronaldo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CUI U22207879</a:t>
            </a:r>
            <a:endParaRPr lang="en-US" sz="1400" dirty="0"/>
          </a:p>
        </p:txBody>
      </p:sp>
      <p:sp>
        <p:nvSpPr>
          <p:cNvPr id="14" name="docente"/>
          <p:cNvSpPr txBox="1"/>
          <p:nvPr/>
        </p:nvSpPr>
        <p:spPr>
          <a:xfrm>
            <a:off x="7909560" y="4754880"/>
            <a:ext cx="3429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DOCENTE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MBA Mg. Ing. René Alonso Nieto Valencia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Ciclo 06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Arquitectura: frontend + backend + persistencia de datos</a:t>
            </a:r>
            <a:endParaRPr lang="en-US" sz="2800" dirty="0"/>
          </a:p>
        </p:txBody>
      </p:sp>
      <p:sp>
        <p:nvSpPr>
          <p:cNvPr id="3" name="capa FRONTEND"/>
          <p:cNvSpPr/>
          <p:nvPr/>
        </p:nvSpPr>
        <p:spPr>
          <a:xfrm>
            <a:off x="548640" y="1280160"/>
            <a:ext cx="3383280" cy="3794760"/>
          </a:xfrm>
          <a:prstGeom prst="roundRect">
            <a:avLst>
              <a:gd name="adj" fmla="val 27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irculo FRONTEND"/>
          <p:cNvSpPr/>
          <p:nvPr/>
        </p:nvSpPr>
        <p:spPr>
          <a:xfrm>
            <a:off x="822960" y="1554480"/>
            <a:ext cx="731520" cy="7315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5" name="icono FRONTEND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737360"/>
            <a:ext cx="365760" cy="365760"/>
          </a:xfrm>
          <a:prstGeom prst="rect">
            <a:avLst/>
          </a:prstGeom>
        </p:spPr>
      </p:pic>
      <p:sp>
        <p:nvSpPr>
          <p:cNvPr id="6" name="titulo FRONTEND"/>
          <p:cNvSpPr txBox="1"/>
          <p:nvPr/>
        </p:nvSpPr>
        <p:spPr>
          <a:xfrm>
            <a:off x="1691640" y="15727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FRONTEND</a:t>
            </a:r>
            <a:endParaRPr lang="en-US" sz="1800" dirty="0"/>
          </a:p>
        </p:txBody>
      </p:sp>
      <p:sp>
        <p:nvSpPr>
          <p:cNvPr id="7" name="sub FRONTEND"/>
          <p:cNvSpPr txBox="1"/>
          <p:nvPr/>
        </p:nvSpPr>
        <p:spPr>
          <a:xfrm>
            <a:off x="1691640" y="19385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Presentación (Vista)</a:t>
            </a:r>
            <a:endParaRPr lang="en-US" sz="1300" dirty="0"/>
          </a:p>
        </p:txBody>
      </p:sp>
      <p:sp>
        <p:nvSpPr>
          <p:cNvPr id="8" name="items FRONTEND"/>
          <p:cNvSpPr txBox="1"/>
          <p:nvPr/>
        </p:nvSpPr>
        <p:spPr>
          <a:xfrm>
            <a:off x="822960" y="2514600"/>
            <a:ext cx="28803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Thymeleaf: 94 vistas por área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Bootstrap 5 + íconos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Leaflet (mapa GPS), Chart.js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Formularios con token CSRF</a:t>
            </a:r>
            <a:endParaRPr lang="en-US" sz="1500" dirty="0"/>
          </a:p>
        </p:txBody>
      </p:sp>
      <p:sp>
        <p:nvSpPr>
          <p:cNvPr id="9" name="flecha 0"/>
          <p:cNvSpPr/>
          <p:nvPr/>
        </p:nvSpPr>
        <p:spPr>
          <a:xfrm>
            <a:off x="3995928" y="3012948"/>
            <a:ext cx="329184" cy="329184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capa BACKEND"/>
          <p:cNvSpPr/>
          <p:nvPr/>
        </p:nvSpPr>
        <p:spPr>
          <a:xfrm>
            <a:off x="4389120" y="1280160"/>
            <a:ext cx="3383280" cy="3794760"/>
          </a:xfrm>
          <a:prstGeom prst="roundRect">
            <a:avLst>
              <a:gd name="adj" fmla="val 27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circulo BACKEND"/>
          <p:cNvSpPr/>
          <p:nvPr/>
        </p:nvSpPr>
        <p:spPr>
          <a:xfrm>
            <a:off x="4663440" y="1554480"/>
            <a:ext cx="731520" cy="7315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2" name="icono BACKEND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737360"/>
            <a:ext cx="365760" cy="365760"/>
          </a:xfrm>
          <a:prstGeom prst="rect">
            <a:avLst/>
          </a:prstGeom>
        </p:spPr>
      </p:pic>
      <p:sp>
        <p:nvSpPr>
          <p:cNvPr id="13" name="titulo BACKEND"/>
          <p:cNvSpPr txBox="1"/>
          <p:nvPr/>
        </p:nvSpPr>
        <p:spPr>
          <a:xfrm>
            <a:off x="5532120" y="15727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BACKEND</a:t>
            </a:r>
            <a:endParaRPr lang="en-US" sz="1800" dirty="0"/>
          </a:p>
        </p:txBody>
      </p:sp>
      <p:sp>
        <p:nvSpPr>
          <p:cNvPr id="14" name="sub BACKEND"/>
          <p:cNvSpPr txBox="1"/>
          <p:nvPr/>
        </p:nvSpPr>
        <p:spPr>
          <a:xfrm>
            <a:off x="5532120" y="19385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Spring Boot 3 · Java 21</a:t>
            </a:r>
            <a:endParaRPr lang="en-US" sz="1300" dirty="0"/>
          </a:p>
        </p:txBody>
      </p:sp>
      <p:sp>
        <p:nvSpPr>
          <p:cNvPr id="15" name="items BACKEND"/>
          <p:cNvSpPr txBox="1"/>
          <p:nvPr/>
        </p:nvSpPr>
        <p:spPr>
          <a:xfrm>
            <a:off x="4663440" y="2514600"/>
            <a:ext cx="28803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Controladores MVC y API REST (JWT)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Servicios con reglas de negocio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Spring Security por rol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Alertas, auditoría y respaldos programados</a:t>
            </a:r>
            <a:endParaRPr lang="en-US" sz="1500" dirty="0"/>
          </a:p>
        </p:txBody>
      </p:sp>
      <p:sp>
        <p:nvSpPr>
          <p:cNvPr id="16" name="flecha 1"/>
          <p:cNvSpPr/>
          <p:nvPr/>
        </p:nvSpPr>
        <p:spPr>
          <a:xfrm>
            <a:off x="7836408" y="3012948"/>
            <a:ext cx="329184" cy="329184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capa PERSISTENCIA"/>
          <p:cNvSpPr/>
          <p:nvPr/>
        </p:nvSpPr>
        <p:spPr>
          <a:xfrm>
            <a:off x="8229600" y="1280160"/>
            <a:ext cx="3383280" cy="3794760"/>
          </a:xfrm>
          <a:prstGeom prst="roundRect">
            <a:avLst>
              <a:gd name="adj" fmla="val 27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circulo PERSISTENCIA"/>
          <p:cNvSpPr/>
          <p:nvPr/>
        </p:nvSpPr>
        <p:spPr>
          <a:xfrm>
            <a:off x="8503920" y="1554480"/>
            <a:ext cx="731520" cy="7315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9" name="icono PERSISTENCIA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1737360"/>
            <a:ext cx="365760" cy="365760"/>
          </a:xfrm>
          <a:prstGeom prst="rect">
            <a:avLst/>
          </a:prstGeom>
        </p:spPr>
      </p:pic>
      <p:sp>
        <p:nvSpPr>
          <p:cNvPr id="20" name="titulo PERSISTENCIA"/>
          <p:cNvSpPr txBox="1"/>
          <p:nvPr/>
        </p:nvSpPr>
        <p:spPr>
          <a:xfrm>
            <a:off x="9372600" y="15727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PERSISTENCIA</a:t>
            </a:r>
            <a:endParaRPr lang="en-US" sz="1800" dirty="0"/>
          </a:p>
        </p:txBody>
      </p:sp>
      <p:sp>
        <p:nvSpPr>
          <p:cNvPr id="21" name="sub PERSISTENCIA"/>
          <p:cNvSpPr txBox="1"/>
          <p:nvPr/>
        </p:nvSpPr>
        <p:spPr>
          <a:xfrm>
            <a:off x="9372600" y="19385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PostgreSQL 16 + pgAdmin 4</a:t>
            </a:r>
            <a:endParaRPr lang="en-US" sz="1300" dirty="0"/>
          </a:p>
        </p:txBody>
      </p:sp>
      <p:sp>
        <p:nvSpPr>
          <p:cNvPr id="22" name="items PERSISTENCIA"/>
          <p:cNvSpPr txBox="1"/>
          <p:nvPr/>
        </p:nvSpPr>
        <p:spPr>
          <a:xfrm>
            <a:off x="8503920" y="2514600"/>
            <a:ext cx="28803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Spring Data JPA: 40 repositorios (DAO)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DAO JDBC para reportes y auditoría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45 tablas en sigem_db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Respaldo diario con pg_dump</a:t>
            </a:r>
            <a:endParaRPr lang="en-US" sz="1500" dirty="0"/>
          </a:p>
        </p:txBody>
      </p:sp>
      <p:sp>
        <p:nvSpPr>
          <p:cNvPr id="23" name="flujo"/>
          <p:cNvSpPr txBox="1"/>
          <p:nvPr/>
        </p:nvSpPr>
        <p:spPr>
          <a:xfrm>
            <a:off x="548640" y="5349240"/>
            <a:ext cx="11064240" cy="82296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177800" rIns="17780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Flujo de una petición:  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Navegador → Spring Security → Controlador → Servicio → DAO (JPA / JDBC) → PostgreSQL → Vista con el resultado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Interfaces y vistas UX/UI funcionando por área</a:t>
            </a:r>
            <a:endParaRPr lang="en-US" sz="2800" dirty="0"/>
          </a:p>
        </p:txBody>
      </p:sp>
      <p:pic>
        <p:nvPicPr>
          <p:cNvPr id="3" name="captura ejecucion" descr="/tmp/claude-0/-home-user-Sigem-Proyect/d0cfea49-2aed-54b6-8bc8-7e1babbccb9a/scratchpad/ev/35-op-ejecuc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6949440" cy="43434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4" name="captura ejecucion etiqueta"/>
          <p:cNvSpPr txBox="1"/>
          <p:nvPr/>
        </p:nvSpPr>
        <p:spPr>
          <a:xfrm>
            <a:off x="658368" y="5184648"/>
            <a:ext cx="5934456" cy="329184"/>
          </a:xfrm>
          <a:prstGeom prst="rect">
            <a:avLst/>
          </a:prstGeom>
          <a:solidFill>
            <a:schemeClr val="tx1">
              <a:alpha val="88000"/>
            </a:schemeClr>
          </a:solidFill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Operaciones: cierre del servicio con horas y km calculados</a:t>
            </a:r>
            <a:endParaRPr lang="en-US" sz="1200" dirty="0"/>
          </a:p>
        </p:txBody>
      </p:sp>
      <p:pic>
        <p:nvPicPr>
          <p:cNvPr id="5" name="captura formulario" descr="/tmp/claude-0/-home-user-Sigem-Proyect/d0cfea49-2aed-54b6-8bc8-7e1babbccb9a/scratchpad/ev/91-servicio-for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280160"/>
            <a:ext cx="3794760" cy="2368296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6" name="captura formulario etiqueta"/>
          <p:cNvSpPr txBox="1"/>
          <p:nvPr/>
        </p:nvSpPr>
        <p:spPr>
          <a:xfrm>
            <a:off x="7927848" y="3209544"/>
            <a:ext cx="2189988" cy="329184"/>
          </a:xfrm>
          <a:prstGeom prst="rect">
            <a:avLst/>
          </a:prstGeom>
          <a:solidFill>
            <a:schemeClr val="tx1">
              <a:alpha val="88000"/>
            </a:schemeClr>
          </a:solidFill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Formulario validado</a:t>
            </a:r>
            <a:endParaRPr lang="en-US" sz="1200" dirty="0"/>
          </a:p>
        </p:txBody>
      </p:sp>
      <p:pic>
        <p:nvPicPr>
          <p:cNvPr id="7" name="captura gerencia" descr="/tmp/claude-0/-home-user-Sigem-Proyect/d0cfea49-2aed-54b6-8bc8-7e1babbccb9a/scratchpad/ev/70-gerencia-dash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3840480"/>
            <a:ext cx="3794760" cy="2368296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8" name="captura gerencia etiqueta"/>
          <p:cNvSpPr txBox="1"/>
          <p:nvPr/>
        </p:nvSpPr>
        <p:spPr>
          <a:xfrm>
            <a:off x="7927848" y="5769864"/>
            <a:ext cx="2382012" cy="329184"/>
          </a:xfrm>
          <a:prstGeom prst="rect">
            <a:avLst/>
          </a:prstGeom>
          <a:solidFill>
            <a:schemeClr val="tx1">
              <a:alpha val="88000"/>
            </a:schemeClr>
          </a:solidFill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Gerencia: indicadores</a:t>
            </a:r>
            <a:endParaRPr lang="en-US" sz="1200" dirty="0"/>
          </a:p>
        </p:txBody>
      </p:sp>
      <p:sp>
        <p:nvSpPr>
          <p:cNvPr id="9" name="nota ux"/>
          <p:cNvSpPr txBox="1"/>
          <p:nvPr/>
        </p:nvSpPr>
        <p:spPr>
          <a:xfrm>
            <a:off x="548640" y="58064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2"/>
                </a:solidFill>
              </a:rPr>
              <a:t>Un panel por rol (8 roles) · menú lateral por área · campana de notificaciones · diseño responsive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de las vistas: plantilla Thymeleaf y su controlador</a:t>
            </a:r>
            <a:endParaRPr lang="en-US" sz="2800" dirty="0"/>
          </a:p>
        </p:txBody>
      </p:sp>
      <p:pic>
        <p:nvPicPr>
          <p:cNvPr id="3" name="codigo vista" descr="/tmp/claude-0/-home-user-Sigem-Proyect/d0cfea49-2aed-54b6-8bc8-7e1babbccb9a/scratchpad/ppt/img/c-vis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5394960" cy="3366599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pic>
        <p:nvPicPr>
          <p:cNvPr id="4" name="codigo controlador" descr="/tmp/claude-0/-home-user-Sigem-Proyect/d0cfea49-2aed-54b6-8bc8-7e1babbccb9a/scratchpad/ppt/img/c-controlad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80160"/>
            <a:ext cx="5394960" cy="2864541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5" name="paso 0"/>
          <p:cNvSpPr/>
          <p:nvPr/>
        </p:nvSpPr>
        <p:spPr>
          <a:xfrm>
            <a:off x="548640" y="5532120"/>
            <a:ext cx="2103120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paso texto 0"/>
          <p:cNvSpPr txBox="1"/>
          <p:nvPr/>
        </p:nvSpPr>
        <p:spPr>
          <a:xfrm>
            <a:off x="548640" y="55321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Formulario (vista)</a:t>
            </a:r>
            <a:endParaRPr lang="en-US" sz="1300" dirty="0"/>
          </a:p>
        </p:txBody>
      </p:sp>
      <p:sp>
        <p:nvSpPr>
          <p:cNvPr id="7" name="paso 1"/>
          <p:cNvSpPr/>
          <p:nvPr/>
        </p:nvSpPr>
        <p:spPr>
          <a:xfrm>
            <a:off x="2788920" y="5532120"/>
            <a:ext cx="210312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paso texto 1"/>
          <p:cNvSpPr txBox="1"/>
          <p:nvPr/>
        </p:nvSpPr>
        <p:spPr>
          <a:xfrm>
            <a:off x="2788920" y="55321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POST /ejecucion/finalizar</a:t>
            </a:r>
            <a:endParaRPr lang="en-US" sz="1300" dirty="0"/>
          </a:p>
        </p:txBody>
      </p:sp>
      <p:sp>
        <p:nvSpPr>
          <p:cNvPr id="9" name="paso 2"/>
          <p:cNvSpPr/>
          <p:nvPr/>
        </p:nvSpPr>
        <p:spPr>
          <a:xfrm>
            <a:off x="5029200" y="5532120"/>
            <a:ext cx="2103120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paso texto 2"/>
          <p:cNvSpPr txBox="1"/>
          <p:nvPr/>
        </p:nvSpPr>
        <p:spPr>
          <a:xfrm>
            <a:off x="5029200" y="55321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Controlador</a:t>
            </a:r>
            <a:endParaRPr lang="en-US" sz="1300" dirty="0"/>
          </a:p>
        </p:txBody>
      </p:sp>
      <p:sp>
        <p:nvSpPr>
          <p:cNvPr id="11" name="paso 3"/>
          <p:cNvSpPr/>
          <p:nvPr/>
        </p:nvSpPr>
        <p:spPr>
          <a:xfrm>
            <a:off x="7269480" y="5532120"/>
            <a:ext cx="210312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paso texto 3"/>
          <p:cNvSpPr txBox="1"/>
          <p:nvPr/>
        </p:nvSpPr>
        <p:spPr>
          <a:xfrm>
            <a:off x="7269480" y="55321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ServicioService</a:t>
            </a:r>
            <a:endParaRPr lang="en-US" sz="1300" dirty="0"/>
          </a:p>
        </p:txBody>
      </p:sp>
      <p:sp>
        <p:nvSpPr>
          <p:cNvPr id="13" name="paso 4"/>
          <p:cNvSpPr/>
          <p:nvPr/>
        </p:nvSpPr>
        <p:spPr>
          <a:xfrm>
            <a:off x="9509760" y="5532120"/>
            <a:ext cx="2103120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paso texto 4"/>
          <p:cNvSpPr txBox="1"/>
          <p:nvPr/>
        </p:nvSpPr>
        <p:spPr>
          <a:xfrm>
            <a:off x="9509760" y="55321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Vista con mensaje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Clases y mantenimientos: entidad, DAO y servicio</a:t>
            </a:r>
            <a:endParaRPr lang="en-US" sz="2800" dirty="0"/>
          </a:p>
        </p:txBody>
      </p:sp>
      <p:pic>
        <p:nvPicPr>
          <p:cNvPr id="3" name="codigo entidad" descr="/tmp/claude-0/-home-user-Sigem-Proyect/d0cfea49-2aed-54b6-8bc8-7e1babbccb9a/scratchpad/ppt/img/c-entid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5120640" cy="4702126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pic>
        <p:nvPicPr>
          <p:cNvPr id="4" name="codigo repositorio" descr="/tmp/claude-0/-home-user-Sigem-Proyect/d0cfea49-2aed-54b6-8bc8-7e1babbccb9a/scratchpad/ppt/img/c-repositori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280160"/>
            <a:ext cx="5623560" cy="1493915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pic>
        <p:nvPicPr>
          <p:cNvPr id="5" name="codigo servicio" descr="/tmp/claude-0/-home-user-Sigem-Proyect/d0cfea49-2aed-54b6-8bc8-7e1babbccb9a/scratchpad/ppt/img/c-servici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3048395"/>
            <a:ext cx="5623560" cy="3028433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Funcionamiento: ciclo de una orden de mantenimiento</a:t>
            </a:r>
            <a:endParaRPr lang="en-US" sz="2800" dirty="0"/>
          </a:p>
        </p:txBody>
      </p:sp>
      <p:sp>
        <p:nvSpPr>
          <p:cNvPr id="3" name="ciclo 1 n"/>
          <p:cNvSpPr/>
          <p:nvPr/>
        </p:nvSpPr>
        <p:spPr>
          <a:xfrm>
            <a:off x="548640" y="15087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ciclo 1 num"/>
          <p:cNvSpPr txBox="1"/>
          <p:nvPr/>
        </p:nvSpPr>
        <p:spPr>
          <a:xfrm>
            <a:off x="54864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ciclo 1 texto"/>
          <p:cNvSpPr txBox="1"/>
          <p:nvPr/>
        </p:nvSpPr>
        <p:spPr>
          <a:xfrm>
            <a:off x="1024128" y="1472184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Programar la orden (preventiva o correctiva)</a:t>
            </a:r>
            <a:endParaRPr lang="en-US" sz="1400" dirty="0"/>
          </a:p>
        </p:txBody>
      </p:sp>
      <p:sp>
        <p:nvSpPr>
          <p:cNvPr id="6" name="ciclo 2 n"/>
          <p:cNvSpPr/>
          <p:nvPr/>
        </p:nvSpPr>
        <p:spPr>
          <a:xfrm>
            <a:off x="548640" y="24688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ciclo 2 num"/>
          <p:cNvSpPr txBox="1"/>
          <p:nvPr/>
        </p:nvSpPr>
        <p:spPr>
          <a:xfrm>
            <a:off x="548640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ciclo 2 texto"/>
          <p:cNvSpPr txBox="1"/>
          <p:nvPr/>
        </p:nvSpPr>
        <p:spPr>
          <a:xfrm>
            <a:off x="1024128" y="2432304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Iniciar: la unidad queda EN MANTENIMIENTO y no se puede asignar</a:t>
            </a:r>
            <a:endParaRPr lang="en-US" sz="1400" dirty="0"/>
          </a:p>
        </p:txBody>
      </p:sp>
      <p:sp>
        <p:nvSpPr>
          <p:cNvPr id="9" name="ciclo 3 n"/>
          <p:cNvSpPr/>
          <p:nvPr/>
        </p:nvSpPr>
        <p:spPr>
          <a:xfrm>
            <a:off x="548640" y="34290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ciclo 3 num"/>
          <p:cNvSpPr txBox="1"/>
          <p:nvPr/>
        </p:nvSpPr>
        <p:spPr>
          <a:xfrm>
            <a:off x="548640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ciclo 3 texto"/>
          <p:cNvSpPr txBox="1"/>
          <p:nvPr/>
        </p:nvSpPr>
        <p:spPr>
          <a:xfrm>
            <a:off x="1024128" y="3392424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Registrar repuestos: se descuentan del almacén (kardex)</a:t>
            </a:r>
            <a:endParaRPr lang="en-US" sz="1400" dirty="0"/>
          </a:p>
        </p:txBody>
      </p:sp>
      <p:sp>
        <p:nvSpPr>
          <p:cNvPr id="12" name="ciclo 4 n"/>
          <p:cNvSpPr/>
          <p:nvPr/>
        </p:nvSpPr>
        <p:spPr>
          <a:xfrm>
            <a:off x="548640" y="43891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ciclo 4 num"/>
          <p:cNvSpPr txBox="1"/>
          <p:nvPr/>
        </p:nvSpPr>
        <p:spPr>
          <a:xfrm>
            <a:off x="548640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ciclo 4 texto"/>
          <p:cNvSpPr txBox="1"/>
          <p:nvPr/>
        </p:nvSpPr>
        <p:spPr>
          <a:xfrm>
            <a:off x="1024128" y="4352544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Completar: costo total, plan preventivo reiniciado y unidad liberada</a:t>
            </a:r>
            <a:endParaRPr lang="en-US" sz="1400" dirty="0"/>
          </a:p>
        </p:txBody>
      </p:sp>
      <p:sp>
        <p:nvSpPr>
          <p:cNvPr id="15" name="caja alerta"/>
          <p:cNvSpPr/>
          <p:nvPr/>
        </p:nvSpPr>
        <p:spPr>
          <a:xfrm>
            <a:off x="548640" y="5440680"/>
            <a:ext cx="411480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o alerta"/>
          <p:cNvSpPr txBox="1"/>
          <p:nvPr/>
        </p:nvSpPr>
        <p:spPr>
          <a:xfrm>
            <a:off x="685800" y="544068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Planes preventivos por horas, km o días: alerta al 90 % y vence al 100 %</a:t>
            </a:r>
            <a:endParaRPr lang="en-US" sz="1300" dirty="0"/>
          </a:p>
        </p:txBody>
      </p:sp>
      <p:pic>
        <p:nvPicPr>
          <p:cNvPr id="17" name="captura OT" descr="/tmp/claude-0/-home-user-Sigem-Proyect/d0cfea49-2aed-54b6-8bc8-7e1babbccb9a/scratchpad/ev/38-op-ot-detal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0" y="1280160"/>
            <a:ext cx="6629400" cy="4142232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18" name="captura OT etiqueta"/>
          <p:cNvSpPr txBox="1"/>
          <p:nvPr/>
        </p:nvSpPr>
        <p:spPr>
          <a:xfrm>
            <a:off x="5093208" y="4983480"/>
            <a:ext cx="3918204" cy="329184"/>
          </a:xfrm>
          <a:prstGeom prst="rect">
            <a:avLst/>
          </a:prstGeom>
          <a:solidFill>
            <a:schemeClr val="tx1">
              <a:alpha val="88000"/>
            </a:schemeClr>
          </a:solidFill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Orden MNT-21 completada con repuestos</a:t>
            </a:r>
            <a:endParaRPr lang="en-US" sz="1200" dirty="0"/>
          </a:p>
        </p:txBody>
      </p:sp>
      <p:sp>
        <p:nvSpPr>
          <p:cNvPr id="19" name="nota auditoria"/>
          <p:cNvSpPr txBox="1"/>
          <p:nvPr/>
        </p:nvSpPr>
        <p:spPr>
          <a:xfrm>
            <a:off x="4983480" y="5623560"/>
            <a:ext cx="6629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2"/>
                </a:solidFill>
              </a:rPr>
              <a:t>Cada cambio queda en la bitácora de auditoría con usuario y valores antes/después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Respaldo (backup) y configuración de la base de datos</a:t>
            </a:r>
            <a:endParaRPr lang="en-US" sz="2800" dirty="0"/>
          </a:p>
        </p:txBody>
      </p:sp>
      <p:pic>
        <p:nvPicPr>
          <p:cNvPr id="3" name="captura respaldos" descr="/tmp/claude-0/-home-user-Sigem-Proyect/d0cfea49-2aed-54b6-8bc8-7e1babbccb9a/scratchpad/ev/90-respald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6949440" cy="43434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4" name="captura respaldos etiqueta"/>
          <p:cNvSpPr txBox="1"/>
          <p:nvPr/>
        </p:nvSpPr>
        <p:spPr>
          <a:xfrm>
            <a:off x="658368" y="5184648"/>
            <a:ext cx="3342132" cy="329184"/>
          </a:xfrm>
          <a:prstGeom prst="rect">
            <a:avLst/>
          </a:prstGeom>
          <a:solidFill>
            <a:schemeClr val="tx1">
              <a:alpha val="88000"/>
            </a:schemeClr>
          </a:solidFill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Administración → Respaldos y BD</a:t>
            </a:r>
            <a:endParaRPr lang="en-US" sz="1200" dirty="0"/>
          </a:p>
        </p:txBody>
      </p:sp>
      <p:sp>
        <p:nvSpPr>
          <p:cNvPr id="5" name="circulo resp 0"/>
          <p:cNvSpPr/>
          <p:nvPr/>
        </p:nvSpPr>
        <p:spPr>
          <a:xfrm>
            <a:off x="7818120" y="1325880"/>
            <a:ext cx="530352" cy="53035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6" name="icono resp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6136" y="1453896"/>
            <a:ext cx="274320" cy="274320"/>
          </a:xfrm>
          <a:prstGeom prst="rect">
            <a:avLst/>
          </a:prstGeom>
        </p:spPr>
      </p:pic>
      <p:sp>
        <p:nvSpPr>
          <p:cNvPr id="7" name="texto resp 0"/>
          <p:cNvSpPr txBox="1"/>
          <p:nvPr/>
        </p:nvSpPr>
        <p:spPr>
          <a:xfrm>
            <a:off x="8503920" y="1271016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Automático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Cada día a las 02:00; guarda los últimos 15</a:t>
            </a:r>
            <a:endParaRPr lang="en-US" sz="1500" dirty="0"/>
          </a:p>
        </p:txBody>
      </p:sp>
      <p:sp>
        <p:nvSpPr>
          <p:cNvPr id="8" name="circulo resp 1"/>
          <p:cNvSpPr/>
          <p:nvPr/>
        </p:nvSpPr>
        <p:spPr>
          <a:xfrm>
            <a:off x="7818120" y="2221992"/>
            <a:ext cx="530352" cy="53035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9" name="icono resp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6136" y="2350008"/>
            <a:ext cx="274320" cy="274320"/>
          </a:xfrm>
          <a:prstGeom prst="rect">
            <a:avLst/>
          </a:prstGeom>
        </p:spPr>
      </p:pic>
      <p:sp>
        <p:nvSpPr>
          <p:cNvPr id="10" name="texto resp 1"/>
          <p:cNvSpPr txBox="1"/>
          <p:nvPr/>
        </p:nvSpPr>
        <p:spPr>
          <a:xfrm>
            <a:off x="8503920" y="2167128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 pedido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Botón "Generar respaldo ahora" y descarga .sql</a:t>
            </a:r>
            <a:endParaRPr lang="en-US" sz="1500" dirty="0"/>
          </a:p>
        </p:txBody>
      </p:sp>
      <p:sp>
        <p:nvSpPr>
          <p:cNvPr id="11" name="circulo resp 2"/>
          <p:cNvSpPr/>
          <p:nvPr/>
        </p:nvSpPr>
        <p:spPr>
          <a:xfrm>
            <a:off x="7818120" y="3118104"/>
            <a:ext cx="530352" cy="53035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2" name="icono resp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6136" y="3246120"/>
            <a:ext cx="274320" cy="274320"/>
          </a:xfrm>
          <a:prstGeom prst="rect">
            <a:avLst/>
          </a:prstGeom>
        </p:spPr>
      </p:pic>
      <p:sp>
        <p:nvSpPr>
          <p:cNvPr id="13" name="texto resp 2"/>
          <p:cNvSpPr txBox="1"/>
          <p:nvPr/>
        </p:nvSpPr>
        <p:spPr>
          <a:xfrm>
            <a:off x="8503920" y="306324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pg_dump o JDBC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Usa pg_dump; si no existe, exporta por JDBC</a:t>
            </a:r>
            <a:endParaRPr lang="en-US" sz="1500" dirty="0"/>
          </a:p>
        </p:txBody>
      </p:sp>
      <p:sp>
        <p:nvSpPr>
          <p:cNvPr id="14" name="circulo resp 3"/>
          <p:cNvSpPr/>
          <p:nvPr/>
        </p:nvSpPr>
        <p:spPr>
          <a:xfrm>
            <a:off x="7818120" y="4014216"/>
            <a:ext cx="530352" cy="53035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5" name="icono resp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6136" y="4142232"/>
            <a:ext cx="274320" cy="274320"/>
          </a:xfrm>
          <a:prstGeom prst="rect">
            <a:avLst/>
          </a:prstGeom>
        </p:spPr>
      </p:pic>
      <p:sp>
        <p:nvSpPr>
          <p:cNvPr id="16" name="texto resp 3"/>
          <p:cNvSpPr txBox="1"/>
          <p:nvPr/>
        </p:nvSpPr>
        <p:spPr>
          <a:xfrm>
            <a:off x="8503920" y="395935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Restauración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scripts\restaurar.ps1 o Query Tool de pgAdmin</a:t>
            </a:r>
            <a:endParaRPr lang="en-US" sz="1500" dirty="0"/>
          </a:p>
        </p:txBody>
      </p:sp>
      <p:sp>
        <p:nvSpPr>
          <p:cNvPr id="17" name="circulo resp 4"/>
          <p:cNvSpPr/>
          <p:nvPr/>
        </p:nvSpPr>
        <p:spPr>
          <a:xfrm>
            <a:off x="7818120" y="4910328"/>
            <a:ext cx="530352" cy="53035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8" name="icono resp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46136" y="5038344"/>
            <a:ext cx="274320" cy="274320"/>
          </a:xfrm>
          <a:prstGeom prst="rect">
            <a:avLst/>
          </a:prstGeom>
        </p:spPr>
      </p:pic>
      <p:sp>
        <p:nvSpPr>
          <p:cNvPr id="19" name="texto resp 4"/>
          <p:cNvSpPr txBox="1"/>
          <p:nvPr/>
        </p:nvSpPr>
        <p:spPr>
          <a:xfrm>
            <a:off x="8503920" y="4855464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Trazable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Cada respaldo queda en la auditoría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del respaldo y configuración de la conexión</a:t>
            </a:r>
            <a:endParaRPr lang="en-US" sz="2800" dirty="0"/>
          </a:p>
        </p:txBody>
      </p:sp>
      <p:pic>
        <p:nvPicPr>
          <p:cNvPr id="3" name="codigo respaldo" descr="/tmp/claude-0/-home-user-Sigem-Proyect/d0cfea49-2aed-54b6-8bc8-7e1babbccb9a/scratchpad/ppt/img/c-respal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6675120" cy="4532669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pic>
        <p:nvPicPr>
          <p:cNvPr id="4" name="codigo propiedades" descr="/tmp/claude-0/-home-user-Sigem-Proyect/d0cfea49-2aed-54b6-8bc8-7e1babbccb9a/scratchpad/ppt/img/c-prop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280160"/>
            <a:ext cx="4069080" cy="1732219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5" name="caja verificacion"/>
          <p:cNvSpPr/>
          <p:nvPr/>
        </p:nvSpPr>
        <p:spPr>
          <a:xfrm>
            <a:off x="7543800" y="3332419"/>
            <a:ext cx="406908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o verificacion"/>
          <p:cNvSpPr txBox="1"/>
          <p:nvPr/>
        </p:nvSpPr>
        <p:spPr>
          <a:xfrm>
            <a:off x="7726680" y="3469579"/>
            <a:ext cx="3703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Restauración verificada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Respaldo restaurado en una base nueva: mismos 28 usuarios, 32 maquinarias y bitácora completa.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Contraseñas fuera del código: variables de entorno (DB_PASSWORD).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 cierre"/>
          <p:cNvSpPr txBox="1"/>
          <p:nvPr/>
        </p:nvSpPr>
        <p:spPr>
          <a:xfrm>
            <a:off x="64008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</a:t>
            </a:r>
            <a:endParaRPr lang="en-US" sz="3600" dirty="0"/>
          </a:p>
        </p:txBody>
      </p:sp>
      <p:sp>
        <p:nvSpPr>
          <p:cNvPr id="3" name="stat 0"/>
          <p:cNvSpPr txBox="1"/>
          <p:nvPr/>
        </p:nvSpPr>
        <p:spPr>
          <a:xfrm>
            <a:off x="640080" y="182880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6600" dirty="0"/>
          </a:p>
        </p:txBody>
      </p:sp>
      <p:sp>
        <p:nvSpPr>
          <p:cNvPr id="4" name="stat texto 0"/>
          <p:cNvSpPr txBox="1"/>
          <p:nvPr/>
        </p:nvSpPr>
        <p:spPr>
          <a:xfrm>
            <a:off x="640080" y="30175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requisitos funcionales implementados</a:t>
            </a:r>
            <a:endParaRPr lang="en-US" sz="1600" dirty="0"/>
          </a:p>
        </p:txBody>
      </p:sp>
      <p:sp>
        <p:nvSpPr>
          <p:cNvPr id="5" name="stat 1"/>
          <p:cNvSpPr txBox="1"/>
          <p:nvPr/>
        </p:nvSpPr>
        <p:spPr>
          <a:xfrm>
            <a:off x="3429000" y="182880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6600" dirty="0"/>
          </a:p>
        </p:txBody>
      </p:sp>
      <p:sp>
        <p:nvSpPr>
          <p:cNvPr id="6" name="stat texto 1"/>
          <p:cNvSpPr txBox="1"/>
          <p:nvPr/>
        </p:nvSpPr>
        <p:spPr>
          <a:xfrm>
            <a:off x="3429000" y="30175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pruebas automatizadas correctas</a:t>
            </a:r>
            <a:endParaRPr lang="en-US" sz="1600" dirty="0"/>
          </a:p>
        </p:txBody>
      </p:sp>
      <p:sp>
        <p:nvSpPr>
          <p:cNvPr id="7" name="stat 2"/>
          <p:cNvSpPr txBox="1"/>
          <p:nvPr/>
        </p:nvSpPr>
        <p:spPr>
          <a:xfrm>
            <a:off x="6217920" y="182880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6600" dirty="0"/>
          </a:p>
        </p:txBody>
      </p:sp>
      <p:sp>
        <p:nvSpPr>
          <p:cNvPr id="8" name="stat texto 2"/>
          <p:cNvSpPr txBox="1"/>
          <p:nvPr/>
        </p:nvSpPr>
        <p:spPr>
          <a:xfrm>
            <a:off x="6217920" y="30175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tablas en PostgreSQL</a:t>
            </a:r>
            <a:endParaRPr lang="en-US" sz="1600" dirty="0"/>
          </a:p>
        </p:txBody>
      </p:sp>
      <p:sp>
        <p:nvSpPr>
          <p:cNvPr id="9" name="stat 3"/>
          <p:cNvSpPr txBox="1"/>
          <p:nvPr/>
        </p:nvSpPr>
        <p:spPr>
          <a:xfrm>
            <a:off x="9006840" y="182880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6600" dirty="0"/>
          </a:p>
        </p:txBody>
      </p:sp>
      <p:sp>
        <p:nvSpPr>
          <p:cNvPr id="10" name="stat texto 3"/>
          <p:cNvSpPr txBox="1"/>
          <p:nvPr/>
        </p:nvSpPr>
        <p:spPr>
          <a:xfrm>
            <a:off x="9006840" y="30175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roles con su propio panel</a:t>
            </a:r>
            <a:endParaRPr lang="en-US" sz="1600" dirty="0"/>
          </a:p>
        </p:txBody>
      </p:sp>
      <p:sp>
        <p:nvSpPr>
          <p:cNvPr id="11" name="resumen"/>
          <p:cNvSpPr txBox="1"/>
          <p:nvPr/>
        </p:nvSpPr>
        <p:spPr>
          <a:xfrm>
            <a:off x="640080" y="42519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Arquitectura MVC en capas · DTO y DAO · principios SOLID · seguridad por rol · auditoría y respaldo automático</a:t>
            </a:r>
            <a:endParaRPr lang="en-US" sz="1600" dirty="0"/>
          </a:p>
        </p:txBody>
      </p:sp>
      <p:sp>
        <p:nvSpPr>
          <p:cNvPr id="12" name="gracias"/>
          <p:cNvSpPr txBox="1"/>
          <p:nvPr/>
        </p:nvSpPr>
        <p:spPr>
          <a:xfrm>
            <a:off x="640080" y="50292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¡Gracias!</a:t>
            </a:r>
            <a:endParaRPr lang="en-US" sz="4000" dirty="0"/>
          </a:p>
        </p:txBody>
      </p:sp>
      <p:sp>
        <p:nvSpPr>
          <p:cNvPr id="13" name="repositorio"/>
          <p:cNvSpPr txBox="1"/>
          <p:nvPr/>
        </p:nvSpPr>
        <p:spPr>
          <a:xfrm>
            <a:off x="6126480" y="5257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chemeClr val="accent1"/>
                </a:solidFill>
              </a:rPr>
              <a:t>github.com/aidanvargas3004-lang/Sigem_Proyect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GEM Industrial">
  <a:themeElements>
    <a:clrScheme name="SIGEM Industrial">
      <a:dk1>
        <a:srgbClr val="1B2430"/>
      </a:dk1>
      <a:lt1>
        <a:srgbClr val="FFFFFF"/>
      </a:lt1>
      <a:dk2>
        <a:srgbClr val="3A4757"/>
      </a:dk2>
      <a:lt2>
        <a:srgbClr val="F3F5F8"/>
      </a:lt2>
      <a:accent1>
        <a:srgbClr val="F2A900"/>
      </a:accent1>
      <a:accent2>
        <a:srgbClr val="2F6F8F"/>
      </a:accent2>
      <a:accent3>
        <a:srgbClr val="4C9A6A"/>
      </a:accent3>
      <a:accent4>
        <a:srgbClr val="C8553D"/>
      </a:accent4>
      <a:accent5>
        <a:srgbClr val="8A97A6"/>
      </a:accent5>
      <a:accent6>
        <a:srgbClr val="6B5CA5"/>
      </a:accent6>
      <a:hlink>
        <a:srgbClr val="2F6F8F"/>
      </a:hlink>
      <a:folHlink>
        <a:srgbClr val="6B5CA5"/>
      </a:folHlink>
    </a:clrScheme>
    <a:fontScheme name="SIGEM Industria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Universidad Tecnológica del Perú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SIGEM — Sistema Integral de Gestión de Flotas y Maquinaria</dc:title>
  <dc:subject>PptxGenJS Presentation</dc:subject>
  <dc:creator>Grupo 2 — Curso Integrador I</dc:creator>
  <cp:lastModifiedBy>Grupo 2 — Curso Integrador I</cp:lastModifiedBy>
  <cp:revision>1</cp:revision>
  <dcterms:created xsi:type="dcterms:W3CDTF">2026-10-12T06:24:46Z</dcterms:created>
  <dcterms:modified xsi:type="dcterms:W3CDTF">2026-10-12T06:24:46Z</dcterms:modified>
</cp:coreProperties>
</file>