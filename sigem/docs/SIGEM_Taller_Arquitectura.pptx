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f123222b-664d-8a07-4e6b-197507975553}">
          <p14:sldIdLst>
            <p14:sldId id="256"/>
            <p14:sldId id="257"/>
          </p14:sldIdLst>
        </p14:section>
        <p14:section name="Lo realizado" id="{c138c5ab-8cc9-ddc7-c2ed-0ca0b95efd1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rquitectura" id="{685cd040-b259-2c78-c845-8b3f836e4437}">
          <p14:sldIdLst>
            <p14:sldId id="264"/>
            <p14:sldId id="265"/>
          </p14:sldIdLst>
        </p14:section>
        <p14:section name="Diseñado y desarrollado" id="{ae103534-0e25-9ed9-f194-ac53f068d529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idencias" id="{ac003872-7689-e043-f067-9637c0026bc6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ierre" id="{9bc1ca1e-723a-ba6f-7f48-d5f293cc77c7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el Grupo 2 y presentamos SIGEM para TRANSUR, aplicando el taller de arquitectura: MVC, TDD, DAO y SOLID. Primero repasamos lo realizado, luego lo diseñado y desarrollado, y finalmente las evidencias del sistema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taller tiene tres partes: lo que ya habíamos realizado en el avance, lo que diseñamos y desarrollamos ahora, y las evidencias del sistema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Modelamos el proceso actual y el propuesto en BPMN para cada área. El AS-IS muestra la coordinación manual; el TO-BE muestra el mismo flujo centralizado en SIGEM, que es lo que luego implementamos.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Levantamos 18 requerimientos funcionales y 10 no funcionales con estructura SRS. Todos los funcionales están implementados y cada uno tiene su pantalla, sus clases y su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se dividió en cinco módulos. Cada clase se implementó como entidad JPA; las relaciones del diagrama son las anotaciones de relación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entidad–relación define las entidades y su cardinalidad; el modelo físico son las 45 tablas en PostgreSQL con claves foráneas e índices. El script completo está en docs/sigem_db.sql.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diccionario de datos describe cada campo: tipo, si acepta nulos, llaves y significado. Aquí, la tabla de servicios, con las lecturas que permiten calcular el uso facturable.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mockups de baja fidelidad y prototipos de alta fidelidad, y el catálogo de reportes con su denominación. Los reportes se implementaron con exportación a Excel 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SIGEM es un monolito modular en capas. El frontend son vistas Thymeleaf con Bootstrap; el backend es Spring Boot con controladores MVC y API REST, servicios con las reglas de negocio y Spring Security; la persistencia es PostgreSQL, accedida con repositorios JPA y DAO JDBC. Cada petición atraviesa la seguridad, llega al controlador, que delega en el servicio, y este usa el DAO para leer o grabar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recursos de software del proyecto, todos libres. A la derecha, los patrones: MVC, DTO y DAO en todos los módulos, SOLID en los componentes de negocio, y además Strategy, Factory, Observer e Interceptor.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está organizado por área de la empresa y, dentro de cada área, por capa: entidad, repositorio o DAO, DTO, servicio y controlador. Así cualquiera ubica rápido dónde está cada responsabilidad.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dependencias se gestionan con Maven a partir de los starters de Spring Boot: web, JPA, seguridad, validación, Thymeleaf, JWT, Apache POI, OpenPDF y el driver de PostgreSQL. Los registros se configuran con Logback: consola, un archivo diario con rotación y un archivo aparte para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área, estos son los paquetes y clases principales y cómo manejan ficheros: Logística importa repuestos desde Excel; las demás áreas exportan sus reportes a Excel y PDF; Administración genera los respaldos.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importación: se descarga la plantilla, se sube el Excel y el sistema crea los repuestos; el stock inicial entra como movimiento al kardex. Las filas con errores se informan sin detener la carga. [Demostración: logistica → Repuestos → Importar].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inventario identifica qué documento recibe y qué documento genera cada área en SIGEM, dónde se registra y en qué tabla se guarda. El detalle completo con rutas y tablas está en el informe y en docs/INVENTARIO_DOCUMENTACION.md.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Arriba, los recursos de seguridad de Java y Spring que usamos en todo el sistema. Abajo, por área: qué información es sensible y qué control la protege. Todo cambio queda en la bitácora de auditoría.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rol entra a su propio panel con menú lateral. Aquí, en Operaciones, se cierra un servicio: el sistema calcula 8,5 horas y 85 km de uso facturable. Los formularios validan los datos y la gerencia ve sus indicadores. [Demostración en vivo: entrar como operaciones y abrir Servicios → Ejecutar].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es HTML con atributos Thymeleaf: th:action arma la URL y agrega el token CSRF, th:min impide lecturas menores a las iniciales. El formulario envía un POST al controlador, que no tiene lógica de negocio: llama al servicio y redirige a la vista con un mensaje de confirmación o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son entidades JPA, como PlanMantenimiento, que además calcula su propia situación: OK, próximo al 90 % o vencido. El acceso a datos lo hacen repositorios Spring Data, nuestro patrón DAO, con consultas por nombre de método. Y las reglas viven en el servicio: completar una orden exige que esté en proceso, actualiza el horómetro, reinicia el plan preventivo y libera la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el mantenimiento: se programa la orden, al iniciarla la unidad queda bloqueada, los repuestos se descuentan del almacén y al completarla se calcula el costo, se reinicia el plan preventivo y la unidad vuelve a estar disponible. [Demostración: Mantenimiento → orden → Iniciar → Repuesto → Completar].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respaldo agregamos un módulo solo para el administrador. Muestra la configuración de la conexión: motor PostgreSQL 16, servidor, puerto, base, tamaño y 45 tablas. El respaldo se genera solo cada día y también con un botón; se puede descargar y restaurar con un script. [Demostración: admin → Respaldos y BD → Generar respaldo ahora → Descargar].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servicio de respaldo se programa con @Scheduled y ejecuta pg_dump con los datos de conexión de application.properties; la contraseña viaja como variable de entorno. Probamos restaurar un respaldo en una base nueva y se recuperaron todos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lo que la pantalla grabó en PostgreSQL: el servicio cerrado con sus lecturas y la bitácora de auditoría generada automáticamente. A la derecha, la integración por API REST: se obtiene un token JWT, se registra una posición GPS, el DTO inválido devuelve errores claros y sin token la API responde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regla de negocio tiene su prueba escrita como caso del dominio: rojo, verde y refactorizar. Son 46 pruebas, unitarias con Mockito y de integración con MockMvc sobre PostgreSQL, todas en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implementamos los 18 requisitos funcionales, con 46 pruebas automatizadas en verde, 45 tablas en PostgreSQL y 8 roles. La arquitectura en capas con DTO, DAO y SOLID nos permitió agregar auditoría y respaldos sin romper lo existente.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SIGEM · TRANSUR S.A.C. · Curso Integrador I — Grupo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so"/>
          <p:cNvSpPr txBox="1"/>
          <p:nvPr/>
        </p:nvSpPr>
        <p:spPr>
          <a:xfrm>
            <a:off x="64008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TALLER DE ARQUITECTURA · MVC · TDD · DAO · SOLID</a:t>
            </a:r>
            <a:endParaRPr lang="en-US" sz="14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SIGEM</a:t>
            </a:r>
            <a:endParaRPr lang="en-US" sz="7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Flotas y Maquinaria</a:t>
            </a:r>
            <a:endParaRPr lang="en-US" sz="2600" dirty="0"/>
          </a:p>
        </p:txBody>
      </p:sp>
      <p:sp>
        <p:nvSpPr>
          <p:cNvPr id="5" name="tema"/>
          <p:cNvSpPr txBox="1"/>
          <p:nvPr/>
        </p:nvSpPr>
        <p:spPr>
          <a:xfrm>
            <a:off x="64008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Curso Integrador I · Sistemas – Software</a:t>
            </a:r>
            <a:endParaRPr lang="en-US" sz="1600" dirty="0"/>
          </a:p>
        </p:txBody>
      </p:sp>
      <p:sp>
        <p:nvSpPr>
          <p:cNvPr id="6" name="lugar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TRANSUR S.A.C. · Arequipa – Perú · 2026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7589520" y="685800"/>
            <a:ext cx="3977640" cy="5486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logo UTP" descr="/tmp/claude-0/-home-user-Sigem-Proyect/d0cfea49-2aed-54b6-8bc8-7e1babbccb9a/scratchpad/un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960120"/>
            <a:ext cx="2194560" cy="480713"/>
          </a:xfrm>
          <a:prstGeom prst="rect">
            <a:avLst/>
          </a:prstGeom>
        </p:spPr>
      </p:pic>
      <p:sp>
        <p:nvSpPr>
          <p:cNvPr id="9" name="facultad"/>
          <p:cNvSpPr txBox="1"/>
          <p:nvPr/>
        </p:nvSpPr>
        <p:spPr>
          <a:xfrm>
            <a:off x="790956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Facultad de Ingeniería · Ing. de Sistemas e Informática / Ing. de Software</a:t>
            </a:r>
            <a:endParaRPr lang="en-US" sz="1100" dirty="0"/>
          </a:p>
        </p:txBody>
      </p:sp>
      <p:sp>
        <p:nvSpPr>
          <p:cNvPr id="10" name="integrantes titulo"/>
          <p:cNvSpPr txBox="1"/>
          <p:nvPr/>
        </p:nvSpPr>
        <p:spPr>
          <a:xfrm>
            <a:off x="79095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INTEGRANTES</a:t>
            </a:r>
            <a:endParaRPr lang="en-US" sz="1300" dirty="0"/>
          </a:p>
        </p:txBody>
      </p:sp>
      <p:sp>
        <p:nvSpPr>
          <p:cNvPr id="11" name="integrante 1"/>
          <p:cNvSpPr txBox="1"/>
          <p:nvPr/>
        </p:nvSpPr>
        <p:spPr>
          <a:xfrm>
            <a:off x="7909560" y="2651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Hilaccama Choque, Sujey Yliana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U23241152</a:t>
            </a:r>
            <a:endParaRPr lang="en-US" sz="1400" dirty="0"/>
          </a:p>
        </p:txBody>
      </p:sp>
      <p:sp>
        <p:nvSpPr>
          <p:cNvPr id="12" name="integrante 2"/>
          <p:cNvSpPr txBox="1"/>
          <p:nvPr/>
        </p:nvSpPr>
        <p:spPr>
          <a:xfrm>
            <a:off x="7909560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Mamani Vargas, Abel Valerio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U21304236</a:t>
            </a:r>
            <a:endParaRPr lang="en-US" sz="1400" dirty="0"/>
          </a:p>
        </p:txBody>
      </p:sp>
      <p:sp>
        <p:nvSpPr>
          <p:cNvPr id="13" name="integrante 3"/>
          <p:cNvSpPr txBox="1"/>
          <p:nvPr/>
        </p:nvSpPr>
        <p:spPr>
          <a:xfrm>
            <a:off x="7909560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Rodriguez Huillca, Juan Ronaldo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U22207879</a:t>
            </a:r>
            <a:endParaRPr lang="en-US" sz="1400" dirty="0"/>
          </a:p>
        </p:txBody>
      </p:sp>
      <p:sp>
        <p:nvSpPr>
          <p:cNvPr id="14" name="docente"/>
          <p:cNvSpPr txBox="1"/>
          <p:nvPr/>
        </p:nvSpPr>
        <p:spPr>
          <a:xfrm>
            <a:off x="7909560" y="4754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MBA Mg. Ing. René Alonso Nieto Valencia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Ciclo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del taller</a:t>
            </a:r>
            <a:endParaRPr lang="en-US" sz="2800" dirty="0"/>
          </a:p>
        </p:txBody>
      </p:sp>
      <p:sp>
        <p:nvSpPr>
          <p:cNvPr id="3" name="bloque 0"/>
          <p:cNvSpPr/>
          <p:nvPr/>
        </p:nvSpPr>
        <p:spPr>
          <a:xfrm>
            <a:off x="54864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bloque 0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xt 0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 bloque 0"/>
          <p:cNvSpPr txBox="1"/>
          <p:nvPr/>
        </p:nvSpPr>
        <p:spPr>
          <a:xfrm>
            <a:off x="150876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 realizado</a:t>
            </a:r>
            <a:endParaRPr lang="en-US" sz="1900" dirty="0"/>
          </a:p>
        </p:txBody>
      </p:sp>
      <p:sp>
        <p:nvSpPr>
          <p:cNvPr id="7" name="items bloque 0"/>
          <p:cNvSpPr txBox="1"/>
          <p:nvPr/>
        </p:nvSpPr>
        <p:spPr>
          <a:xfrm>
            <a:off x="82296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Diagramas de procesos AS-IS / TO-BE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Requerimientos funcionales y no funcionales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Diagrama de clases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 lógico y físico de la BD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Diccionario de datos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Prototipos UX/UI y reportes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Arquitectura y patrones (DTO, DAO, MVC, SOLID)</a:t>
            </a:r>
            <a:endParaRPr lang="en-US" sz="1400" dirty="0"/>
          </a:p>
        </p:txBody>
      </p:sp>
      <p:sp>
        <p:nvSpPr>
          <p:cNvPr id="8" name="bloque 1"/>
          <p:cNvSpPr/>
          <p:nvPr/>
        </p:nvSpPr>
        <p:spPr>
          <a:xfrm>
            <a:off x="429768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 bloque 1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 txt 1"/>
          <p:cNvSpPr txBox="1"/>
          <p:nvPr/>
        </p:nvSpPr>
        <p:spPr>
          <a:xfrm>
            <a:off x="4572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it bloque 1"/>
          <p:cNvSpPr txBox="1"/>
          <p:nvPr/>
        </p:nvSpPr>
        <p:spPr>
          <a:xfrm>
            <a:off x="525780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Diseñado y desarrollado</a:t>
            </a:r>
            <a:endParaRPr lang="en-US" sz="1900" dirty="0"/>
          </a:p>
        </p:txBody>
      </p:sp>
      <p:sp>
        <p:nvSpPr>
          <p:cNvPr id="12" name="items bloque 1"/>
          <p:cNvSpPr txBox="1"/>
          <p:nvPr/>
        </p:nvSpPr>
        <p:spPr>
          <a:xfrm>
            <a:off x="457200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Documentación de recursos de código fuente: paquetes, librerías, dependencias, logback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Importación y exportación de ficheros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Inventario de documentación por área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Recursos de seguridad Java por área</a:t>
            </a:r>
            <a:endParaRPr lang="en-US" sz="1400" dirty="0"/>
          </a:p>
        </p:txBody>
      </p:sp>
      <p:sp>
        <p:nvSpPr>
          <p:cNvPr id="13" name="bloque 2"/>
          <p:cNvSpPr/>
          <p:nvPr/>
        </p:nvSpPr>
        <p:spPr>
          <a:xfrm>
            <a:off x="804672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num bloque 2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 txt 2"/>
          <p:cNvSpPr txBox="1"/>
          <p:nvPr/>
        </p:nvSpPr>
        <p:spPr>
          <a:xfrm>
            <a:off x="8321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it bloque 2"/>
          <p:cNvSpPr txBox="1"/>
          <p:nvPr/>
        </p:nvSpPr>
        <p:spPr>
          <a:xfrm>
            <a:off x="900684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Evidencias</a:t>
            </a:r>
            <a:endParaRPr lang="en-US" sz="1900" dirty="0"/>
          </a:p>
        </p:txBody>
      </p:sp>
      <p:sp>
        <p:nvSpPr>
          <p:cNvPr id="17" name="items bloque 2"/>
          <p:cNvSpPr txBox="1"/>
          <p:nvPr/>
        </p:nvSpPr>
        <p:spPr>
          <a:xfrm>
            <a:off x="832104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Interfaces y vistas UX/UI +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Clases y mantenimientos +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Respaldo (backup) y configuración de BBDD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Integración BD, backend y frontend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Pruebas automatizadas (TDD)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Diagramas de procesos: AS-IS y TO-BE (BPMN)</a:t>
            </a:r>
            <a:endParaRPr lang="en-US" sz="2800" dirty="0"/>
          </a:p>
        </p:txBody>
      </p:sp>
      <p:sp>
        <p:nvSpPr>
          <p:cNvPr id="3" name="proceso asis marco"/>
          <p:cNvSpPr/>
          <p:nvPr/>
        </p:nvSpPr>
        <p:spPr>
          <a:xfrm>
            <a:off x="548640" y="1280160"/>
            <a:ext cx="544068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proceso asis" descr="/tmp/claude-0/-home-user-Sigem-Proyect/d0cfea49-2aed-54b6-8bc8-7e1babbccb9a/scratchpad/un/word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5294376" cy="2903963"/>
          </a:xfrm>
          <a:prstGeom prst="rect">
            <a:avLst/>
          </a:prstGeom>
        </p:spPr>
      </p:pic>
      <p:sp>
        <p:nvSpPr>
          <p:cNvPr id="5" name="proceso asis etiqueta"/>
          <p:cNvSpPr txBox="1"/>
          <p:nvPr/>
        </p:nvSpPr>
        <p:spPr>
          <a:xfrm>
            <a:off x="640080" y="455371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AS-IS: proceso actual sin SIGEM</a:t>
            </a:r>
            <a:endParaRPr lang="en-US" sz="1200" dirty="0"/>
          </a:p>
        </p:txBody>
      </p:sp>
      <p:sp>
        <p:nvSpPr>
          <p:cNvPr id="6" name="proceso tobe marco"/>
          <p:cNvSpPr/>
          <p:nvPr/>
        </p:nvSpPr>
        <p:spPr>
          <a:xfrm>
            <a:off x="6172200" y="1280160"/>
            <a:ext cx="544068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proceso tobe" descr="/tmp/claude-0/-home-user-Sigem-Proyect/d0cfea49-2aed-54b6-8bc8-7e1babbccb9a/scratchpad/un/word/media/image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53312"/>
            <a:ext cx="5294376" cy="2905183"/>
          </a:xfrm>
          <a:prstGeom prst="rect">
            <a:avLst/>
          </a:prstGeom>
        </p:spPr>
      </p:pic>
      <p:sp>
        <p:nvSpPr>
          <p:cNvPr id="8" name="proceso tobe etiqueta"/>
          <p:cNvSpPr txBox="1"/>
          <p:nvPr/>
        </p:nvSpPr>
        <p:spPr>
          <a:xfrm>
            <a:off x="6263640" y="455371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TO-BE: proceso con SIGEM</a:t>
            </a:r>
            <a:endParaRPr lang="en-US" sz="1200" dirty="0"/>
          </a:p>
        </p:txBody>
      </p:sp>
      <p:sp>
        <p:nvSpPr>
          <p:cNvPr id="9" name="procesos texto"/>
          <p:cNvSpPr txBox="1"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programación por llamadas, cuadernos y hojas de cálculo → doble asignación, mantenimiento correctivo y uso no facturado.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Solución: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flujo único por área (marketing, ventas, operaciones, logística, RRHH y gerencia) registrado en SIGEM.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Requerimientos funcionales y no funcionales</a:t>
            </a:r>
            <a:endParaRPr lang="en-US" sz="2800" dirty="0"/>
          </a:p>
        </p:txBody>
      </p:sp>
      <p:graphicFrame>
        <p:nvGraphicFramePr>
          <p:cNvPr id="5" name="tabla 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96012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Autenticación y cierre de sesión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Inicio y cierre de servicio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Usuarios y roles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Registro de incidencias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flota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 de mantenimiento preventivo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Disponibilidad de unidades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clientes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Alertas operativas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contratos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Registro de solicitudes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Programación de servicios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Validación de conflictos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Historial de cambios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a RN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no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Seguridad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Desempeño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Disponibilidad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Compatibilidad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Integridad de datos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Respaldo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Auditabilidad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Mantenibilidad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Escalabilidad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a rf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Los 18 RF están implementados y trazados a su pantalla, clase y prueba (matriz de trazabilidad del informe).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Diagrama de clases: atributos, métodos y relaciones</a:t>
            </a:r>
            <a:endParaRPr lang="en-US" sz="2800" dirty="0"/>
          </a:p>
        </p:txBody>
      </p:sp>
      <p:sp>
        <p:nvSpPr>
          <p:cNvPr id="3" name="clases seguridad marco"/>
          <p:cNvSpPr/>
          <p:nvPr/>
        </p:nvSpPr>
        <p:spPr>
          <a:xfrm>
            <a:off x="548640" y="1280160"/>
            <a:ext cx="3566160" cy="48920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lases seguridad" descr="/tmp/claude-0/-home-user-Sigem-Proyect/d0cfea49-2aed-54b6-8bc8-7e1babbccb9a/scratchpad/un/word/media/imag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03" y="1353312"/>
            <a:ext cx="2884234" cy="4434840"/>
          </a:xfrm>
          <a:prstGeom prst="rect">
            <a:avLst/>
          </a:prstGeom>
        </p:spPr>
      </p:pic>
      <p:sp>
        <p:nvSpPr>
          <p:cNvPr id="5" name="clases seguridad etiqueta"/>
          <p:cNvSpPr txBox="1"/>
          <p:nvPr/>
        </p:nvSpPr>
        <p:spPr>
          <a:xfrm>
            <a:off x="64008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Módulo seguridad y sistema</a:t>
            </a:r>
            <a:endParaRPr lang="en-US" sz="1200" dirty="0"/>
          </a:p>
        </p:txBody>
      </p:sp>
      <p:sp>
        <p:nvSpPr>
          <p:cNvPr id="6" name="clases operaciones marco"/>
          <p:cNvSpPr/>
          <p:nvPr/>
        </p:nvSpPr>
        <p:spPr>
          <a:xfrm>
            <a:off x="4297680" y="1280160"/>
            <a:ext cx="7315200" cy="35204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lases operaciones" descr="/tmp/claude-0/-home-user-Sigem-Proyect/d0cfea49-2aed-54b6-8bc8-7e1babbccb9a/scratchpad/un/word/media/image3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02" y="1353312"/>
            <a:ext cx="6989757" cy="3063240"/>
          </a:xfrm>
          <a:prstGeom prst="rect">
            <a:avLst/>
          </a:prstGeom>
        </p:spPr>
      </p:pic>
      <p:sp>
        <p:nvSpPr>
          <p:cNvPr id="8" name="clases operaciones etiqueta"/>
          <p:cNvSpPr txBox="1"/>
          <p:nvPr/>
        </p:nvSpPr>
        <p:spPr>
          <a:xfrm>
            <a:off x="4389120" y="44165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Módulo operaciones, servicio y mantenimiento</a:t>
            </a:r>
            <a:endParaRPr lang="en-US" sz="1200" dirty="0"/>
          </a:p>
        </p:txBody>
      </p:sp>
      <p:sp>
        <p:nvSpPr>
          <p:cNvPr id="9" name="clases texto"/>
          <p:cNvSpPr txBox="1"/>
          <p:nvPr/>
        </p:nvSpPr>
        <p:spPr>
          <a:xfrm>
            <a:off x="4297680" y="4983480"/>
            <a:ext cx="7315200" cy="11887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diagramas por módulo: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seguridad y sistema · flota y activos · operaciones y mantenimiento · comercial y marketing · logística y compras. Implementados como entidades JPA con sus relaciones (@ManyToOne, @OneToMany).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Modelo lógico y físico de la base de datos</a:t>
            </a:r>
            <a:endParaRPr lang="en-US" sz="2800" dirty="0"/>
          </a:p>
        </p:txBody>
      </p:sp>
      <p:sp>
        <p:nvSpPr>
          <p:cNvPr id="3" name="modelo er marco"/>
          <p:cNvSpPr/>
          <p:nvPr/>
        </p:nvSpPr>
        <p:spPr>
          <a:xfrm>
            <a:off x="548640" y="1280160"/>
            <a:ext cx="5669280" cy="4206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modelo er" descr="/tmp/claude-0/-home-user-Sigem-Proyect/d0cfea49-2aed-54b6-8bc8-7e1babbccb9a/scratchpad/un/word/media/image4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5522976" cy="3681984"/>
          </a:xfrm>
          <a:prstGeom prst="rect">
            <a:avLst/>
          </a:prstGeom>
        </p:spPr>
      </p:pic>
      <p:sp>
        <p:nvSpPr>
          <p:cNvPr id="5" name="modelo er etiqueta"/>
          <p:cNvSpPr txBox="1"/>
          <p:nvPr/>
        </p:nvSpPr>
        <p:spPr>
          <a:xfrm>
            <a:off x="640080" y="51023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Modelo entidad–relación con cardinalidades</a:t>
            </a:r>
            <a:endParaRPr lang="en-US" sz="1200" dirty="0"/>
          </a:p>
        </p:txBody>
      </p:sp>
      <p:sp>
        <p:nvSpPr>
          <p:cNvPr id="6" name="modelo fisico marco"/>
          <p:cNvSpPr/>
          <p:nvPr/>
        </p:nvSpPr>
        <p:spPr>
          <a:xfrm>
            <a:off x="6400800" y="1280160"/>
            <a:ext cx="3017520" cy="4206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odelo fisico" descr="/tmp/claude-0/-home-user-Sigem-Proyect/d0cfea49-2aed-54b6-8bc8-7e1babbccb9a/scratchpad/un/word/media/image4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2871216" cy="2380616"/>
          </a:xfrm>
          <a:prstGeom prst="rect">
            <a:avLst/>
          </a:prstGeom>
        </p:spPr>
      </p:pic>
      <p:sp>
        <p:nvSpPr>
          <p:cNvPr id="8" name="modelo fisico etiqueta"/>
          <p:cNvSpPr txBox="1"/>
          <p:nvPr/>
        </p:nvSpPr>
        <p:spPr>
          <a:xfrm>
            <a:off x="6492240" y="51023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Modelo físico</a:t>
            </a:r>
            <a:endParaRPr lang="en-US" sz="1200" dirty="0"/>
          </a:p>
        </p:txBody>
      </p:sp>
      <p:sp>
        <p:nvSpPr>
          <p:cNvPr id="9" name="bd stat 0"/>
          <p:cNvSpPr txBox="1"/>
          <p:nvPr/>
        </p:nvSpPr>
        <p:spPr>
          <a:xfrm>
            <a:off x="9646920" y="1325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45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tablas</a:t>
            </a:r>
            <a:endParaRPr lang="en-US" sz="3400" dirty="0"/>
          </a:p>
        </p:txBody>
      </p:sp>
      <p:sp>
        <p:nvSpPr>
          <p:cNvPr id="10" name="bd stat 1"/>
          <p:cNvSpPr txBox="1"/>
          <p:nvPr/>
        </p:nvSpPr>
        <p:spPr>
          <a:xfrm>
            <a:off x="9646920" y="2697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PostgreSQL 16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motor + pgAdmin 4</a:t>
            </a:r>
            <a:endParaRPr lang="en-US" sz="1800" dirty="0"/>
          </a:p>
        </p:txBody>
      </p:sp>
      <p:sp>
        <p:nvSpPr>
          <p:cNvPr id="11" name="bd stat 2"/>
          <p:cNvSpPr txBox="1"/>
          <p:nvPr/>
        </p:nvSpPr>
        <p:spPr>
          <a:xfrm>
            <a:off x="9646920" y="4069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FK + índices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integridad referencial</a:t>
            </a:r>
            <a:endParaRPr lang="en-US" sz="1800" dirty="0"/>
          </a:p>
        </p:txBody>
      </p:sp>
      <p:sp>
        <p:nvSpPr>
          <p:cNvPr id="12" name="bd nota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Relaciones 1:N y N:1 entre cliente, contrato, servicio, asignación, maquinaria, empleado, mantenimiento y repuesto.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Diccionario de datos (ejemplo: tabla SERVICIOS)</a:t>
            </a:r>
            <a:endParaRPr lang="en-US" sz="2800" dirty="0"/>
          </a:p>
        </p:txBody>
      </p:sp>
      <p:graphicFrame>
        <p:nvGraphicFramePr>
          <p:cNvPr id="8" name="diccion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73152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Campo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Nulo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Descripción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(PK)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Identificador del servicio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contrato_id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(FK)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Contrato que origina el servicio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tipo_servicio_id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(FK)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Transporte, movimiento de tierra, grúa…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fecha_programada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Inicio programado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fecha_fin_programada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 programado (valida cruces de horario)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VARCHAR(30)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POR_ASIGNAR, ASIGNADO, EN_CURSO, FINALIZADO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horometro_inicial / final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NUMERIC(10,2)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Lecturas del horómetro al iniciar y cerrar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km_inicial / final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NUMERIC(12,2)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Lecturas del odómetro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horas_uso / km_recorridos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Uso facturable calculado al cierre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origen / destino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VARCHAR(255)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Puntos de partida y llegada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dic nota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El informe documenta las 45 tablas con este formato (campo, tipo, nulidad, llaves y descripción).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6–7. Prototipos UX/UI y modelo de reportes</a:t>
            </a:r>
            <a:endParaRPr lang="en-US" sz="2800" dirty="0"/>
          </a:p>
        </p:txBody>
      </p:sp>
      <p:sp>
        <p:nvSpPr>
          <p:cNvPr id="3" name="mockup marco"/>
          <p:cNvSpPr/>
          <p:nvPr/>
        </p:nvSpPr>
        <p:spPr>
          <a:xfrm>
            <a:off x="548640" y="1280160"/>
            <a:ext cx="3566160" cy="28346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mockup" descr="/tmp/claude-0/-home-user-Sigem-Proyect/d0cfea49-2aed-54b6-8bc8-7e1babbccb9a/scratchpad/un/word/media/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3419856" cy="2268504"/>
          </a:xfrm>
          <a:prstGeom prst="rect">
            <a:avLst/>
          </a:prstGeom>
        </p:spPr>
      </p:pic>
      <p:sp>
        <p:nvSpPr>
          <p:cNvPr id="5" name="mockup etiqueta"/>
          <p:cNvSpPr txBox="1"/>
          <p:nvPr/>
        </p:nvSpPr>
        <p:spPr>
          <a:xfrm>
            <a:off x="640080" y="3730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Mockup: órdenes de mantenimiento</a:t>
            </a:r>
            <a:endParaRPr lang="en-US" sz="1200" dirty="0"/>
          </a:p>
        </p:txBody>
      </p:sp>
      <p:sp>
        <p:nvSpPr>
          <p:cNvPr id="6" name="prototipo marco"/>
          <p:cNvSpPr/>
          <p:nvPr/>
        </p:nvSpPr>
        <p:spPr>
          <a:xfrm>
            <a:off x="548640" y="4251960"/>
            <a:ext cx="356616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prototipo" descr="/tmp/claude-0/-home-user-Sigem-Proyect/d0cfea49-2aed-54b6-8bc8-7e1babbccb9a/scratchpad/un/word/media/image3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12" y="4325112"/>
            <a:ext cx="1717015" cy="1463040"/>
          </a:xfrm>
          <a:prstGeom prst="rect">
            <a:avLst/>
          </a:prstGeom>
        </p:spPr>
      </p:pic>
      <p:sp>
        <p:nvSpPr>
          <p:cNvPr id="8" name="prototipo etiqueta"/>
          <p:cNvSpPr txBox="1"/>
          <p:nvPr/>
        </p:nvSpPr>
        <p:spPr>
          <a:xfrm>
            <a:off x="64008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Prototipo UI: operaciones</a:t>
            </a:r>
            <a:endParaRPr lang="en-US" sz="1200" dirty="0"/>
          </a:p>
        </p:txBody>
      </p:sp>
      <p:sp>
        <p:nvSpPr>
          <p:cNvPr id="9" name="reporte proto marco"/>
          <p:cNvSpPr/>
          <p:nvPr/>
        </p:nvSpPr>
        <p:spPr>
          <a:xfrm>
            <a:off x="4297680" y="1280160"/>
            <a:ext cx="3566160" cy="28346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reporte proto" descr="/tmp/claude-0/-home-user-Sigem-Proyect/d0cfea49-2aed-54b6-8bc8-7e1babbccb9a/scratchpad/un/word/media/image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353312"/>
            <a:ext cx="3419856" cy="1588148"/>
          </a:xfrm>
          <a:prstGeom prst="rect">
            <a:avLst/>
          </a:prstGeom>
        </p:spPr>
      </p:pic>
      <p:sp>
        <p:nvSpPr>
          <p:cNvPr id="11" name="reporte proto etiqueta"/>
          <p:cNvSpPr txBox="1"/>
          <p:nvPr/>
        </p:nvSpPr>
        <p:spPr>
          <a:xfrm>
            <a:off x="4389120" y="3730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Reporte de servicios realizados</a:t>
            </a:r>
            <a:endParaRPr lang="en-US" sz="1200" dirty="0"/>
          </a:p>
        </p:txBody>
      </p:sp>
      <p:sp>
        <p:nvSpPr>
          <p:cNvPr id="12" name="catalogo reportes marco"/>
          <p:cNvSpPr/>
          <p:nvPr/>
        </p:nvSpPr>
        <p:spPr>
          <a:xfrm>
            <a:off x="8046720" y="1280160"/>
            <a:ext cx="3566160" cy="48920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catalogo reportes" descr="/tmp/claude-0/-home-user-Sigem-Proyect/d0cfea49-2aed-54b6-8bc8-7e1babbccb9a/scratchpad/un/word/media/image36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353312"/>
            <a:ext cx="3419856" cy="2538768"/>
          </a:xfrm>
          <a:prstGeom prst="rect">
            <a:avLst/>
          </a:prstGeom>
        </p:spPr>
      </p:pic>
      <p:sp>
        <p:nvSpPr>
          <p:cNvPr id="14" name="catalogo reportes etiqueta"/>
          <p:cNvSpPr txBox="1"/>
          <p:nvPr/>
        </p:nvSpPr>
        <p:spPr>
          <a:xfrm>
            <a:off x="813816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Catálogo y denominación de reportes</a:t>
            </a:r>
            <a:endParaRPr lang="en-US" sz="1200" dirty="0"/>
          </a:p>
        </p:txBody>
      </p:sp>
      <p:sp>
        <p:nvSpPr>
          <p:cNvPr id="15" name="reportes texto"/>
          <p:cNvSpPr txBox="1"/>
          <p:nvPr/>
        </p:nvSpPr>
        <p:spPr>
          <a:xfrm>
            <a:off x="4297680" y="4251960"/>
            <a:ext cx="3566160" cy="19202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Reportes implementados: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servicios realizados · uso de flota · mantenimientos · incidencias · disponibilidad · ventas · marketing · auditoría — en pantalla, Excel y PDF.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Arquitectura: frontend + backend + persistencia de datos</a:t>
            </a:r>
            <a:endParaRPr lang="en-US" sz="2800" dirty="0"/>
          </a:p>
        </p:txBody>
      </p:sp>
      <p:sp>
        <p:nvSpPr>
          <p:cNvPr id="3" name="capa FRONTEND"/>
          <p:cNvSpPr/>
          <p:nvPr/>
        </p:nvSpPr>
        <p:spPr>
          <a:xfrm>
            <a:off x="54864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FRONTEND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ono FRONT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itulo FRONTEND"/>
          <p:cNvSpPr txBox="1"/>
          <p:nvPr/>
        </p:nvSpPr>
        <p:spPr>
          <a:xfrm>
            <a:off x="169164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ub FRONTEND"/>
          <p:cNvSpPr txBox="1"/>
          <p:nvPr/>
        </p:nvSpPr>
        <p:spPr>
          <a:xfrm>
            <a:off x="169164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Presentación (Vista)</a:t>
            </a:r>
            <a:endParaRPr lang="en-US" sz="1300" dirty="0"/>
          </a:p>
        </p:txBody>
      </p:sp>
      <p:sp>
        <p:nvSpPr>
          <p:cNvPr id="8" name="items FRONTEND"/>
          <p:cNvSpPr txBox="1"/>
          <p:nvPr/>
        </p:nvSpPr>
        <p:spPr>
          <a:xfrm>
            <a:off x="82296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Thymeleaf: 94 vistas por área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Bootstrap 5 + íconos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Leaflet (mapa GPS), Chart.js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Formularios con token CSRF</a:t>
            </a:r>
            <a:endParaRPr lang="en-US" sz="1500" dirty="0"/>
          </a:p>
        </p:txBody>
      </p:sp>
      <p:sp>
        <p:nvSpPr>
          <p:cNvPr id="9" name="flecha 0"/>
          <p:cNvSpPr/>
          <p:nvPr/>
        </p:nvSpPr>
        <p:spPr>
          <a:xfrm>
            <a:off x="399592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pa BACKEND"/>
          <p:cNvSpPr/>
          <p:nvPr/>
        </p:nvSpPr>
        <p:spPr>
          <a:xfrm>
            <a:off x="438912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 BACKEND"/>
          <p:cNvSpPr/>
          <p:nvPr/>
        </p:nvSpPr>
        <p:spPr>
          <a:xfrm>
            <a:off x="466344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BACKEN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65760" cy="365760"/>
          </a:xfrm>
          <a:prstGeom prst="rect">
            <a:avLst/>
          </a:prstGeom>
        </p:spPr>
      </p:pic>
      <p:sp>
        <p:nvSpPr>
          <p:cNvPr id="13" name="titulo BACKEND"/>
          <p:cNvSpPr txBox="1"/>
          <p:nvPr/>
        </p:nvSpPr>
        <p:spPr>
          <a:xfrm>
            <a:off x="55321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4" name="sub BACKEND"/>
          <p:cNvSpPr txBox="1"/>
          <p:nvPr/>
        </p:nvSpPr>
        <p:spPr>
          <a:xfrm>
            <a:off x="553212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Spring Boot 3 · Java 21</a:t>
            </a:r>
            <a:endParaRPr lang="en-US" sz="1300" dirty="0"/>
          </a:p>
        </p:txBody>
      </p:sp>
      <p:sp>
        <p:nvSpPr>
          <p:cNvPr id="15" name="items BACKEND"/>
          <p:cNvSpPr txBox="1"/>
          <p:nvPr/>
        </p:nvSpPr>
        <p:spPr>
          <a:xfrm>
            <a:off x="466344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Controladores MVC y API REST (JWT)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Servicios con reglas de negocio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Security por 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Alertas, auditoría y respaldos programados</a:t>
            </a:r>
            <a:endParaRPr lang="en-US" sz="1500" dirty="0"/>
          </a:p>
        </p:txBody>
      </p:sp>
      <p:sp>
        <p:nvSpPr>
          <p:cNvPr id="16" name="flecha 1"/>
          <p:cNvSpPr/>
          <p:nvPr/>
        </p:nvSpPr>
        <p:spPr>
          <a:xfrm>
            <a:off x="783640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pa PERSISTENCIA"/>
          <p:cNvSpPr/>
          <p:nvPr/>
        </p:nvSpPr>
        <p:spPr>
          <a:xfrm>
            <a:off x="822960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ulo PERSISTENCIA"/>
          <p:cNvSpPr/>
          <p:nvPr/>
        </p:nvSpPr>
        <p:spPr>
          <a:xfrm>
            <a:off x="850392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o PERSISTENCI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365760" cy="365760"/>
          </a:xfrm>
          <a:prstGeom prst="rect">
            <a:avLst/>
          </a:prstGeom>
        </p:spPr>
      </p:pic>
      <p:sp>
        <p:nvSpPr>
          <p:cNvPr id="20" name="titulo PERSISTENCIA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PERSISTENCIA</a:t>
            </a:r>
            <a:endParaRPr lang="en-US" sz="1800" dirty="0"/>
          </a:p>
        </p:txBody>
      </p:sp>
      <p:sp>
        <p:nvSpPr>
          <p:cNvPr id="21" name="sub PERSISTENCIA"/>
          <p:cNvSpPr txBox="1"/>
          <p:nvPr/>
        </p:nvSpPr>
        <p:spPr>
          <a:xfrm>
            <a:off x="93726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22" name="items PERSISTENCIA"/>
          <p:cNvSpPr txBox="1"/>
          <p:nvPr/>
        </p:nvSpPr>
        <p:spPr>
          <a:xfrm>
            <a:off x="850392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Data JPA: 40 repositorios (DAO)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DAO JDBC para reportes y auditoría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45 tablas en sigem_db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Respaldo diario con pg_dump</a:t>
            </a:r>
            <a:endParaRPr lang="en-US" sz="1500" dirty="0"/>
          </a:p>
        </p:txBody>
      </p:sp>
      <p:sp>
        <p:nvSpPr>
          <p:cNvPr id="23" name="flujo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Flujo de una petición: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Navegador → Spring Security → Controlador → Servicio → DAO (JPA / JDBC) → PostgreSQL → Vista con el resultado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Recursos de software y patrones aplicados</a:t>
            </a:r>
            <a:endParaRPr lang="en-US" sz="2800" dirty="0"/>
          </a:p>
        </p:txBody>
      </p:sp>
      <p:sp>
        <p:nvSpPr>
          <p:cNvPr id="3" name="sw 0"/>
          <p:cNvSpPr/>
          <p:nvPr/>
        </p:nvSpPr>
        <p:spPr>
          <a:xfrm>
            <a:off x="548640" y="13258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w circ 0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sw icon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92608" cy="292608"/>
          </a:xfrm>
          <a:prstGeom prst="rect">
            <a:avLst/>
          </a:prstGeom>
        </p:spPr>
      </p:pic>
      <p:sp>
        <p:nvSpPr>
          <p:cNvPr id="6" name="sw txt 0"/>
          <p:cNvSpPr txBox="1"/>
          <p:nvPr/>
        </p:nvSpPr>
        <p:spPr>
          <a:xfrm>
            <a:off x="1325880" y="1417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Java 21 (JDK)</a:t>
            </a:r>
            <a:endParaRPr lang="en-US" sz="1300" dirty="0"/>
          </a:p>
        </p:txBody>
      </p:sp>
      <p:sp>
        <p:nvSpPr>
          <p:cNvPr id="7" name="sw 1"/>
          <p:cNvSpPr/>
          <p:nvPr/>
        </p:nvSpPr>
        <p:spPr>
          <a:xfrm>
            <a:off x="3246120" y="13258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w circ 1"/>
          <p:cNvSpPr/>
          <p:nvPr/>
        </p:nvSpPr>
        <p:spPr>
          <a:xfrm>
            <a:off x="3383280" y="15544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sw icon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682496"/>
            <a:ext cx="292608" cy="292608"/>
          </a:xfrm>
          <a:prstGeom prst="rect">
            <a:avLst/>
          </a:prstGeom>
        </p:spPr>
      </p:pic>
      <p:sp>
        <p:nvSpPr>
          <p:cNvPr id="10" name="sw txt 1"/>
          <p:cNvSpPr txBox="1"/>
          <p:nvPr/>
        </p:nvSpPr>
        <p:spPr>
          <a:xfrm>
            <a:off x="4023360" y="1417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Spring Boot 3.2.5</a:t>
            </a:r>
            <a:endParaRPr lang="en-US" sz="1300" dirty="0"/>
          </a:p>
        </p:txBody>
      </p:sp>
      <p:sp>
        <p:nvSpPr>
          <p:cNvPr id="11" name="sw 2"/>
          <p:cNvSpPr/>
          <p:nvPr/>
        </p:nvSpPr>
        <p:spPr>
          <a:xfrm>
            <a:off x="548640" y="25146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w circ 2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sw icon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871216"/>
            <a:ext cx="292608" cy="292608"/>
          </a:xfrm>
          <a:prstGeom prst="rect">
            <a:avLst/>
          </a:prstGeom>
        </p:spPr>
      </p:pic>
      <p:sp>
        <p:nvSpPr>
          <p:cNvPr id="14" name="sw txt 2"/>
          <p:cNvSpPr txBox="1"/>
          <p:nvPr/>
        </p:nvSpPr>
        <p:spPr>
          <a:xfrm>
            <a:off x="13258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Maven (mvnw)</a:t>
            </a:r>
            <a:endParaRPr lang="en-US" sz="1300" dirty="0"/>
          </a:p>
        </p:txBody>
      </p:sp>
      <p:sp>
        <p:nvSpPr>
          <p:cNvPr id="15" name="sw 3"/>
          <p:cNvSpPr/>
          <p:nvPr/>
        </p:nvSpPr>
        <p:spPr>
          <a:xfrm>
            <a:off x="3246120" y="25146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w circ 3"/>
          <p:cNvSpPr/>
          <p:nvPr/>
        </p:nvSpPr>
        <p:spPr>
          <a:xfrm>
            <a:off x="3383280" y="2743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sw icon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871216"/>
            <a:ext cx="292608" cy="292608"/>
          </a:xfrm>
          <a:prstGeom prst="rect">
            <a:avLst/>
          </a:prstGeom>
        </p:spPr>
      </p:pic>
      <p:sp>
        <p:nvSpPr>
          <p:cNvPr id="18" name="sw txt 3"/>
          <p:cNvSpPr txBox="1"/>
          <p:nvPr/>
        </p:nvSpPr>
        <p:spPr>
          <a:xfrm>
            <a:off x="402336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19" name="sw 4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w circ 4"/>
          <p:cNvSpPr/>
          <p:nvPr/>
        </p:nvSpPr>
        <p:spPr>
          <a:xfrm>
            <a:off x="685800" y="39319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sw icono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059936"/>
            <a:ext cx="292608" cy="292608"/>
          </a:xfrm>
          <a:prstGeom prst="rect">
            <a:avLst/>
          </a:prstGeom>
        </p:spPr>
      </p:pic>
      <p:sp>
        <p:nvSpPr>
          <p:cNvPr id="22" name="sw txt 4"/>
          <p:cNvSpPr txBox="1"/>
          <p:nvPr/>
        </p:nvSpPr>
        <p:spPr>
          <a:xfrm>
            <a:off x="1325880" y="3794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Code + Java/Spring</a:t>
            </a:r>
            <a:endParaRPr lang="en-US" sz="1300" dirty="0"/>
          </a:p>
        </p:txBody>
      </p:sp>
      <p:sp>
        <p:nvSpPr>
          <p:cNvPr id="23" name="sw 5"/>
          <p:cNvSpPr/>
          <p:nvPr/>
        </p:nvSpPr>
        <p:spPr>
          <a:xfrm>
            <a:off x="3246120" y="37033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w circ 5"/>
          <p:cNvSpPr/>
          <p:nvPr/>
        </p:nvSpPr>
        <p:spPr>
          <a:xfrm>
            <a:off x="3383280" y="39319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sw icono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059936"/>
            <a:ext cx="292608" cy="292608"/>
          </a:xfrm>
          <a:prstGeom prst="rect">
            <a:avLst/>
          </a:prstGeom>
        </p:spPr>
      </p:pic>
      <p:sp>
        <p:nvSpPr>
          <p:cNvPr id="26" name="sw txt 5"/>
          <p:cNvSpPr txBox="1"/>
          <p:nvPr/>
        </p:nvSpPr>
        <p:spPr>
          <a:xfrm>
            <a:off x="4023360" y="3794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 y GitHub</a:t>
            </a:r>
            <a:endParaRPr lang="en-US" sz="1300" dirty="0"/>
          </a:p>
        </p:txBody>
      </p:sp>
      <p:sp>
        <p:nvSpPr>
          <p:cNvPr id="27" name="sw 6"/>
          <p:cNvSpPr/>
          <p:nvPr/>
        </p:nvSpPr>
        <p:spPr>
          <a:xfrm>
            <a:off x="548640" y="4892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w circ 6"/>
          <p:cNvSpPr/>
          <p:nvPr/>
        </p:nvSpPr>
        <p:spPr>
          <a:xfrm>
            <a:off x="685800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sw icono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248656"/>
            <a:ext cx="292608" cy="292608"/>
          </a:xfrm>
          <a:prstGeom prst="rect">
            <a:avLst/>
          </a:prstGeom>
        </p:spPr>
      </p:pic>
      <p:sp>
        <p:nvSpPr>
          <p:cNvPr id="30" name="sw txt 6"/>
          <p:cNvSpPr txBox="1"/>
          <p:nvPr/>
        </p:nvSpPr>
        <p:spPr>
          <a:xfrm>
            <a:off x="1325880" y="4983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Thymeleaf + Bootstrap 5</a:t>
            </a:r>
            <a:endParaRPr lang="en-US" sz="1300" dirty="0"/>
          </a:p>
        </p:txBody>
      </p:sp>
      <p:sp>
        <p:nvSpPr>
          <p:cNvPr id="31" name="sw 7"/>
          <p:cNvSpPr/>
          <p:nvPr/>
        </p:nvSpPr>
        <p:spPr>
          <a:xfrm>
            <a:off x="3246120" y="4892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w circ 7"/>
          <p:cNvSpPr/>
          <p:nvPr/>
        </p:nvSpPr>
        <p:spPr>
          <a:xfrm>
            <a:off x="3383280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sw icono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5248656"/>
            <a:ext cx="292608" cy="292608"/>
          </a:xfrm>
          <a:prstGeom prst="rect">
            <a:avLst/>
          </a:prstGeom>
        </p:spPr>
      </p:pic>
      <p:sp>
        <p:nvSpPr>
          <p:cNvPr id="34" name="sw txt 7"/>
          <p:cNvSpPr txBox="1"/>
          <p:nvPr/>
        </p:nvSpPr>
        <p:spPr>
          <a:xfrm>
            <a:off x="4023360" y="4983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JUnit 5 · Mockito · MockMvc</a:t>
            </a:r>
            <a:endParaRPr lang="en-US" sz="1300" dirty="0"/>
          </a:p>
        </p:txBody>
      </p:sp>
      <p:graphicFrame>
        <p:nvGraphicFramePr>
          <p:cNvPr id="11" name="tabla patr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Patrón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Aplicación en SIGEM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MVC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Entidades JPA (modelo) · vistas Thymeleaf · @Controller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Request/Response validados (IncidenciaRequest, ServicioResponse)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 repositorios JPA + DAO JDBC (reportes, auditoría)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SOLID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ValidadorDisponibilidad (SRP) · exportadores (OCP, DIP)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Strategy / Factory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ExportadorReporte: Excel o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Observer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Listener de Hibernate para la auditoría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Interceptor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Contador de notificaciones en cada vista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código fuente: organización de paquetes</a:t>
            </a:r>
            <a:endParaRPr lang="en-US" sz="2800" dirty="0"/>
          </a:p>
        </p:txBody>
      </p:sp>
      <p:pic>
        <p:nvPicPr>
          <p:cNvPr id="3" name="codigo paquetes" descr="/tmp/claude-0/-home-user-Sigem-Proyect/d0cfea49-2aed-54b6-8bc8-7e1babbccb9a/scratchpad/ppt/img/c-paqu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449832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as texto"/>
          <p:cNvSpPr txBox="1"/>
          <p:nvPr/>
        </p:nvSpPr>
        <p:spPr>
          <a:xfrm>
            <a:off x="8732520" y="1280160"/>
            <a:ext cx="2880360" cy="4892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Paquete por área y por capa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entity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modelo (JPA)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repository / dao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acceso a datos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dto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transferencia de datos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service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reglas de negocio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controller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MVC y API REST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templates/&lt;área&gt;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vistas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Librerías, dependencias (Maven) y configuración Logback</a:t>
            </a:r>
            <a:endParaRPr lang="en-US" sz="2800" dirty="0"/>
          </a:p>
        </p:txBody>
      </p:sp>
      <p:pic>
        <p:nvPicPr>
          <p:cNvPr id="3" name="librerias" descr="/tmp/claude-0/-home-user-Sigem-Proyect/d0cfea49-2aed-54b6-8bc8-7e1babbccb9a/scratchpad/img/libre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359499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logback" descr="/tmp/claude-0/-home-user-Sigem-Proyect/d0cfea49-2aed-54b6-8bc8-7e1babbccb9a/scratchpad/img/log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3769025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código por área y manejo de ficheros</a:t>
            </a:r>
            <a:endParaRPr lang="en-US" sz="2800" dirty="0"/>
          </a:p>
        </p:txBody>
      </p:sp>
      <p:graphicFrame>
        <p:nvGraphicFramePr>
          <p:cNvPr id="14" name="tabla recursos are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48840"/>
                <a:gridCol w="41605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Paquetes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Clases principales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Ficheros (importa / exporta)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marketing, cliente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CampaniaService, LeadService, OportunidadService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SolicitudService, CotizacionService, ContratoService, VentaService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 de ventas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logistica, compras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MovimientoInventarioService, RepuestoImportService, OrdenCompraService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Importa repuestos desde Excel (.xlsx)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operaciones, maquinaria, 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ServicioService, ValidadorDisponibilidad, MantenimientoService, ReporteOperativoJdbcDao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reportes operativos; sube imágenes y evidencias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EmpleadoService, DocumentoService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Sube licencias y documentos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gerencia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GerenciaViewController, ReporteOperativoService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reportes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security, seguridad, sistema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SecurityConfig, AuditoriaEntidadesListener, RespaldoService, AlertaService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Respaldo .sql · bitácora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y exportación de ficheros funcionando</a:t>
            </a:r>
            <a:endParaRPr lang="en-US" sz="2800" dirty="0"/>
          </a:p>
        </p:txBody>
      </p:sp>
      <p:pic>
        <p:nvPicPr>
          <p:cNvPr id="3" name="captura importacion" descr="/tmp/claude-0/-home-user-Sigem-Proyect/d0cfea49-2aed-54b6-8bc8-7e1babbccb9a/scratchpad/ev/95-import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85216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importacion etiqueta"/>
          <p:cNvSpPr txBox="1"/>
          <p:nvPr/>
        </p:nvSpPr>
        <p:spPr>
          <a:xfrm>
            <a:off x="658368" y="4498848"/>
            <a:ext cx="363016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Logística: importación desde Excel</a:t>
            </a:r>
            <a:endParaRPr lang="en-US" sz="1200" dirty="0"/>
          </a:p>
        </p:txBody>
      </p:sp>
      <p:pic>
        <p:nvPicPr>
          <p:cNvPr id="5" name="codigo importar" descr="/tmp/claude-0/-home-user-Sigem-Proyect/d0cfea49-2aed-54b6-8bc8-7e1babbccb9a/scratchpad/ppt/img/c-impor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80160"/>
            <a:ext cx="4983480" cy="295395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graphicFrame>
        <p:nvGraphicFramePr>
          <p:cNvPr id="15" name="tabla fiche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6424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7373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Fichero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Formato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Librería / herramienta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Importar catálogo de repuestos (plantilla descargable)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.xlsx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Apache POI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Exportar reportes operativos, ventas, marketing y auditoría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.xlsx / .pdf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Apache POI · OpenPDF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Respaldo de la base de datos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.sql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pg_dump / JDBC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documentación por área</a:t>
            </a:r>
            <a:endParaRPr lang="en-US" sz="2800" dirty="0"/>
          </a:p>
        </p:txBody>
      </p:sp>
      <p:graphicFrame>
        <p:nvGraphicFramePr>
          <p:cNvPr id="16" name="tabla invent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Documentos que recibe (entrada)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Documentos que genera (salida)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Fichas de cliente y contactos, campañas, leads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Oportunidades, reporte de marketing (Excel/PDF)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Solicitudes de servicio o alquiler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Cotizaciones, contratos, ventas, alquileres, reporte de 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servicio, asignaciones, actas de inicio y cierre, incidencias, GPS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Programación, reportes de servicios, flota, incidencias y disponibilidad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Planes preventivos, vales de repuestos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trabajo, informe de costos, reporte de mantenimientos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Repuestos (manual o Excel), recepciones de compra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Kardex, órdenes de compra, alerta de stock mínimo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Legajo del empleado, licencias, SCTR, certificaciones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Cuadro de vencimientos, alertas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Indicadores, rentabilidad, reportes ejecutivos y operativos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Usuarios y roles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Bitácora de auditoría, respaldos .sql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seguridad Java por área</a:t>
            </a:r>
            <a:endParaRPr lang="en-US" sz="2800" dirty="0"/>
          </a:p>
        </p:txBody>
      </p:sp>
      <p:sp>
        <p:nvSpPr>
          <p:cNvPr id="3" name="seg chip 0"/>
          <p:cNvSpPr/>
          <p:nvPr/>
        </p:nvSpPr>
        <p:spPr>
          <a:xfrm>
            <a:off x="54864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eg chip txt 0"/>
          <p:cNvSpPr txBox="1"/>
          <p:nvPr/>
        </p:nvSpPr>
        <p:spPr>
          <a:xfrm>
            <a:off x="68580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Spring Security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roles por URL, sesión, @PreAuthorize</a:t>
            </a:r>
            <a:endParaRPr lang="en-US" sz="1300" dirty="0"/>
          </a:p>
        </p:txBody>
      </p:sp>
      <p:sp>
        <p:nvSpPr>
          <p:cNvPr id="5" name="seg chip 1"/>
          <p:cNvSpPr/>
          <p:nvPr/>
        </p:nvSpPr>
        <p:spPr>
          <a:xfrm>
            <a:off x="429768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seg chip txt 1"/>
          <p:cNvSpPr txBox="1"/>
          <p:nvPr/>
        </p:nvSpPr>
        <p:spPr>
          <a:xfrm>
            <a:off x="443484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BCrypt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contraseñas con hash</a:t>
            </a:r>
            <a:endParaRPr lang="en-US" sz="1300" dirty="0"/>
          </a:p>
        </p:txBody>
      </p:sp>
      <p:sp>
        <p:nvSpPr>
          <p:cNvPr id="7" name="seg chip 2"/>
          <p:cNvSpPr/>
          <p:nvPr/>
        </p:nvSpPr>
        <p:spPr>
          <a:xfrm>
            <a:off x="804672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eg chip txt 2"/>
          <p:cNvSpPr txBox="1"/>
          <p:nvPr/>
        </p:nvSpPr>
        <p:spPr>
          <a:xfrm>
            <a:off x="818388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JJWT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tokens para la API</a:t>
            </a:r>
            <a:endParaRPr lang="en-US" sz="1300" dirty="0"/>
          </a:p>
        </p:txBody>
      </p:sp>
      <p:sp>
        <p:nvSpPr>
          <p:cNvPr id="9" name="seg chip 3"/>
          <p:cNvSpPr/>
          <p:nvPr/>
        </p:nvSpPr>
        <p:spPr>
          <a:xfrm>
            <a:off x="54864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eg chip txt 3"/>
          <p:cNvSpPr txBox="1"/>
          <p:nvPr/>
        </p:nvSpPr>
        <p:spPr>
          <a:xfrm>
            <a:off x="68580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CSRF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token en cada formulario</a:t>
            </a:r>
            <a:endParaRPr lang="en-US" sz="1300" dirty="0"/>
          </a:p>
        </p:txBody>
      </p:sp>
      <p:sp>
        <p:nvSpPr>
          <p:cNvPr id="11" name="seg chip 4"/>
          <p:cNvSpPr/>
          <p:nvPr/>
        </p:nvSpPr>
        <p:spPr>
          <a:xfrm>
            <a:off x="429768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eg chip txt 4"/>
          <p:cNvSpPr txBox="1"/>
          <p:nvPr/>
        </p:nvSpPr>
        <p:spPr>
          <a:xfrm>
            <a:off x="443484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Bean Validation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DTO validados</a:t>
            </a:r>
            <a:endParaRPr lang="en-US" sz="1300" dirty="0"/>
          </a:p>
        </p:txBody>
      </p:sp>
      <p:sp>
        <p:nvSpPr>
          <p:cNvPr id="13" name="seg chip 5"/>
          <p:cNvSpPr/>
          <p:nvPr/>
        </p:nvSpPr>
        <p:spPr>
          <a:xfrm>
            <a:off x="804672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eg chip txt 5"/>
          <p:cNvSpPr txBox="1"/>
          <p:nvPr/>
        </p:nvSpPr>
        <p:spPr>
          <a:xfrm>
            <a:off x="818388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JPA / JDBC parametrizado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sin inyección SQL</a:t>
            </a:r>
            <a:endParaRPr lang="en-US" sz="1300" dirty="0"/>
          </a:p>
        </p:txBody>
      </p:sp>
      <p:graphicFrame>
        <p:nvGraphicFramePr>
          <p:cNvPr id="17" name="tabla segur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Información sensible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 implementado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Datos personales de clientes y prospectos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MARKETING/ADMIN; auditoría de cambios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Precios, contratos, cotizaciones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VENTAS/ADMIN; cliente ve solo lo suyo; @PreAuthorize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Lecturas de uso (facturación), ubicación GPS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Lecturas no decrecientes; API GPS con JWT; auditoría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Stock, kardex, compras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 stock negativo; validación del Excel importado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Datos y documentos del personal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RRHH/ADMIN; licencia vencida bloquea asignación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Indicadores financieros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GERENCIA/ADMIN, vistas de lectura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Usuarios, bitácora, respaldos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ADMIN; registro de LOGIN_FALLIDO; respaldo sin exponer la contraseña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y vistas UX/UI funcionando por área</a:t>
            </a:r>
            <a:endParaRPr lang="en-US" sz="2800" dirty="0"/>
          </a:p>
        </p:txBody>
      </p:sp>
      <p:pic>
        <p:nvPicPr>
          <p:cNvPr id="3" name="captura ejecucion" descr="/tmp/claude-0/-home-user-Sigem-Proyect/d0cfea49-2aed-54b6-8bc8-7e1babbccb9a/scratchpad/ev/35-op-ejec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ejecucion etiqueta"/>
          <p:cNvSpPr txBox="1"/>
          <p:nvPr/>
        </p:nvSpPr>
        <p:spPr>
          <a:xfrm>
            <a:off x="658368" y="5184648"/>
            <a:ext cx="5934456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Operaciones: cierre del servicio con horas y km calculados</a:t>
            </a:r>
            <a:endParaRPr lang="en-US" sz="1200" dirty="0"/>
          </a:p>
        </p:txBody>
      </p:sp>
      <p:pic>
        <p:nvPicPr>
          <p:cNvPr id="5" name="captura formulario" descr="/tmp/claude-0/-home-user-Sigem-Proyect/d0cfea49-2aed-54b6-8bc8-7e1babbccb9a/scratchpad/ev/91-servicio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captura formulario etiqueta"/>
          <p:cNvSpPr txBox="1"/>
          <p:nvPr/>
        </p:nvSpPr>
        <p:spPr>
          <a:xfrm>
            <a:off x="7927848" y="3209544"/>
            <a:ext cx="218998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Formulario validado</a:t>
            </a:r>
            <a:endParaRPr lang="en-US" sz="1200" dirty="0"/>
          </a:p>
        </p:txBody>
      </p:sp>
      <p:pic>
        <p:nvPicPr>
          <p:cNvPr id="7" name="captura gerencia" descr="/tmp/claude-0/-home-user-Sigem-Proyect/d0cfea49-2aed-54b6-8bc8-7e1babbccb9a/scratchpad/ev/70-gerencia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captura gerencia etiqueta"/>
          <p:cNvSpPr txBox="1"/>
          <p:nvPr/>
        </p:nvSpPr>
        <p:spPr>
          <a:xfrm>
            <a:off x="7927848" y="5769864"/>
            <a:ext cx="238201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Gerencia: indicadores</a:t>
            </a:r>
            <a:endParaRPr lang="en-US" sz="1200" dirty="0"/>
          </a:p>
        </p:txBody>
      </p:sp>
      <p:sp>
        <p:nvSpPr>
          <p:cNvPr id="9" name="nota ux"/>
          <p:cNvSpPr txBox="1"/>
          <p:nvPr/>
        </p:nvSpPr>
        <p:spPr>
          <a:xfrm>
            <a:off x="5486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 panel por rol (8 roles) · menú lateral por área · campana de notificaciones · diseño responsive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las vistas: plantilla Thymeleaf y su controlador</a:t>
            </a:r>
            <a:endParaRPr lang="en-US" sz="2800" dirty="0"/>
          </a:p>
        </p:txBody>
      </p:sp>
      <p:pic>
        <p:nvPicPr>
          <p:cNvPr id="3" name="codigo vista" descr="/tmp/claude-0/-home-user-Sigem-Proyect/d0cfea49-2aed-54b6-8bc8-7e1babbccb9a/scratchpad/ppt/img/c-v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6659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controlador" descr="/tmp/claude-0/-home-user-Sigem-Proyect/d0cfea49-2aed-54b6-8bc8-7e1babbccb9a/scratchpad/ppt/img/c-control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28645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paso 0"/>
          <p:cNvSpPr/>
          <p:nvPr/>
        </p:nvSpPr>
        <p:spPr>
          <a:xfrm>
            <a:off x="54864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 texto 0"/>
          <p:cNvSpPr txBox="1"/>
          <p:nvPr/>
        </p:nvSpPr>
        <p:spPr>
          <a:xfrm>
            <a:off x="54864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Formulario (vista)</a:t>
            </a:r>
            <a:endParaRPr lang="en-US" sz="1300" dirty="0"/>
          </a:p>
        </p:txBody>
      </p:sp>
      <p:sp>
        <p:nvSpPr>
          <p:cNvPr id="7" name="paso 1"/>
          <p:cNvSpPr/>
          <p:nvPr/>
        </p:nvSpPr>
        <p:spPr>
          <a:xfrm>
            <a:off x="278892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paso texto 1"/>
          <p:cNvSpPr txBox="1"/>
          <p:nvPr/>
        </p:nvSpPr>
        <p:spPr>
          <a:xfrm>
            <a:off x="278892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/ejecucion/finalizar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502920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so texto 2"/>
          <p:cNvSpPr txBox="1"/>
          <p:nvPr/>
        </p:nvSpPr>
        <p:spPr>
          <a:xfrm>
            <a:off x="502920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Controlador</a:t>
            </a:r>
            <a:endParaRPr lang="en-US" sz="1300" dirty="0"/>
          </a:p>
        </p:txBody>
      </p:sp>
      <p:sp>
        <p:nvSpPr>
          <p:cNvPr id="11" name="paso 3"/>
          <p:cNvSpPr/>
          <p:nvPr/>
        </p:nvSpPr>
        <p:spPr>
          <a:xfrm>
            <a:off x="726948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aso texto 3"/>
          <p:cNvSpPr txBox="1"/>
          <p:nvPr/>
        </p:nvSpPr>
        <p:spPr>
          <a:xfrm>
            <a:off x="726948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ServicioService</a:t>
            </a:r>
            <a:endParaRPr lang="en-US" sz="1300" dirty="0"/>
          </a:p>
        </p:txBody>
      </p:sp>
      <p:sp>
        <p:nvSpPr>
          <p:cNvPr id="13" name="paso 4"/>
          <p:cNvSpPr/>
          <p:nvPr/>
        </p:nvSpPr>
        <p:spPr>
          <a:xfrm>
            <a:off x="950976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so texto 4"/>
          <p:cNvSpPr txBox="1"/>
          <p:nvPr/>
        </p:nvSpPr>
        <p:spPr>
          <a:xfrm>
            <a:off x="950976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Vista con mensaje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y mantenimientos: entidad, DAO y servicio</a:t>
            </a:r>
            <a:endParaRPr lang="en-US" sz="2800" dirty="0"/>
          </a:p>
        </p:txBody>
      </p:sp>
      <p:pic>
        <p:nvPicPr>
          <p:cNvPr id="3" name="codigo entidad" descr="/tmp/claude-0/-home-user-Sigem-Proyect/d0cfea49-2aed-54b6-8bc8-7e1babbccb9a/scratchpad/ppt/img/c-ent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47021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repositorio" descr="/tmp/claude-0/-home-user-Sigem-Proyect/d0cfea49-2aed-54b6-8bc8-7e1babbccb9a/scratchpad/ppt/img/c-reposito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623560" cy="149391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odigo servicio" descr="/tmp/claude-0/-home-user-Sigem-Proyect/d0cfea49-2aed-54b6-8bc8-7e1babbccb9a/scratchpad/ppt/img/c-serv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48395"/>
            <a:ext cx="5623560" cy="30284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Funcionamiento: ciclo de una orden de mantenimiento</a:t>
            </a:r>
            <a:endParaRPr lang="en-US" sz="2800" dirty="0"/>
          </a:p>
        </p:txBody>
      </p:sp>
      <p:sp>
        <p:nvSpPr>
          <p:cNvPr id="3" name="ciclo 1 n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clo 1 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iclo 1 texto"/>
          <p:cNvSpPr txBox="1"/>
          <p:nvPr/>
        </p:nvSpPr>
        <p:spPr>
          <a:xfrm>
            <a:off x="1024128" y="14721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Programar la orden (preventiva o correctiva)</a:t>
            </a:r>
            <a:endParaRPr lang="en-US" sz="1400" dirty="0"/>
          </a:p>
        </p:txBody>
      </p:sp>
      <p:sp>
        <p:nvSpPr>
          <p:cNvPr id="6" name="ciclo 2 n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iclo 2 num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iclo 2 texto"/>
          <p:cNvSpPr txBox="1"/>
          <p:nvPr/>
        </p:nvSpPr>
        <p:spPr>
          <a:xfrm>
            <a:off x="1024128" y="24323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Iniciar: la unidad queda EN MANTENIMIENTO y no se puede asignar</a:t>
            </a:r>
            <a:endParaRPr lang="en-US" sz="1400" dirty="0"/>
          </a:p>
        </p:txBody>
      </p:sp>
      <p:sp>
        <p:nvSpPr>
          <p:cNvPr id="9" name="ciclo 3 n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clo 3 num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iclo 3 texto"/>
          <p:cNvSpPr txBox="1"/>
          <p:nvPr/>
        </p:nvSpPr>
        <p:spPr>
          <a:xfrm>
            <a:off x="1024128" y="3392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repuestos: se descuentan del almacén (kardex)</a:t>
            </a:r>
            <a:endParaRPr lang="en-US" sz="1400" dirty="0"/>
          </a:p>
        </p:txBody>
      </p:sp>
      <p:sp>
        <p:nvSpPr>
          <p:cNvPr id="12" name="ciclo 4 n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clo 4 num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iclo 4 texto"/>
          <p:cNvSpPr txBox="1"/>
          <p:nvPr/>
        </p:nvSpPr>
        <p:spPr>
          <a:xfrm>
            <a:off x="1024128" y="43525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Completar: costo total, plan preventivo reiniciado y unidad liberada</a:t>
            </a:r>
            <a:endParaRPr lang="en-US" sz="1400" dirty="0"/>
          </a:p>
        </p:txBody>
      </p:sp>
      <p:sp>
        <p:nvSpPr>
          <p:cNvPr id="15" name="caja alerta"/>
          <p:cNvSpPr/>
          <p:nvPr/>
        </p:nvSpPr>
        <p:spPr>
          <a:xfrm>
            <a:off x="548640" y="54406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alerta"/>
          <p:cNvSpPr txBox="1"/>
          <p:nvPr/>
        </p:nvSpPr>
        <p:spPr>
          <a:xfrm>
            <a:off x="685800" y="5440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Planes preventivos por horas, km o días: alerta al 90 % y vence al 100 %</a:t>
            </a:r>
            <a:endParaRPr lang="en-US" sz="1300" dirty="0"/>
          </a:p>
        </p:txBody>
      </p:sp>
      <p:pic>
        <p:nvPicPr>
          <p:cNvPr id="17" name="captura OT" descr="/tmp/claude-0/-home-user-Sigem-Proyect/d0cfea49-2aed-54b6-8bc8-7e1babbccb9a/scratchpad/ev/38-op-ot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280160"/>
            <a:ext cx="6629400" cy="41422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captura OT etiqueta"/>
          <p:cNvSpPr txBox="1"/>
          <p:nvPr/>
        </p:nvSpPr>
        <p:spPr>
          <a:xfrm>
            <a:off x="5093208" y="4983480"/>
            <a:ext cx="3918204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Orden MNT-21 completada con repuestos</a:t>
            </a:r>
            <a:endParaRPr lang="en-US" sz="1200" dirty="0"/>
          </a:p>
        </p:txBody>
      </p:sp>
      <p:sp>
        <p:nvSpPr>
          <p:cNvPr id="19" name="nota auditoria"/>
          <p:cNvSpPr txBox="1"/>
          <p:nvPr/>
        </p:nvSpPr>
        <p:spPr>
          <a:xfrm>
            <a:off x="4983480" y="562356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Cada cambio queda en la bitácora de auditoría con usuario y valores antes/después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(backup) y configuración de la base de datos</a:t>
            </a:r>
            <a:endParaRPr lang="en-US" sz="2800" dirty="0"/>
          </a:p>
        </p:txBody>
      </p:sp>
      <p:pic>
        <p:nvPicPr>
          <p:cNvPr id="3" name="captura respaldos" descr="/tmp/claude-0/-home-user-Sigem-Proyect/d0cfea49-2aed-54b6-8bc8-7e1babbccb9a/scratchpad/ev/90-respa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respaldos etiqueta"/>
          <p:cNvSpPr txBox="1"/>
          <p:nvPr/>
        </p:nvSpPr>
        <p:spPr>
          <a:xfrm>
            <a:off x="658368" y="5184648"/>
            <a:ext cx="334213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Administración → Respaldos y BD</a:t>
            </a:r>
            <a:endParaRPr lang="en-US" sz="1200" dirty="0"/>
          </a:p>
        </p:txBody>
      </p:sp>
      <p:sp>
        <p:nvSpPr>
          <p:cNvPr id="5" name="circulo resp 0"/>
          <p:cNvSpPr/>
          <p:nvPr/>
        </p:nvSpPr>
        <p:spPr>
          <a:xfrm>
            <a:off x="7818120" y="1325880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o resp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1453896"/>
            <a:ext cx="274320" cy="274320"/>
          </a:xfrm>
          <a:prstGeom prst="rect">
            <a:avLst/>
          </a:prstGeom>
        </p:spPr>
      </p:pic>
      <p:sp>
        <p:nvSpPr>
          <p:cNvPr id="7" name="texto resp 0"/>
          <p:cNvSpPr txBox="1"/>
          <p:nvPr/>
        </p:nvSpPr>
        <p:spPr>
          <a:xfrm>
            <a:off x="8503920" y="12710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Automático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día a las 02:00; guarda los últimos 15</a:t>
            </a:r>
            <a:endParaRPr lang="en-US" sz="1500" dirty="0"/>
          </a:p>
        </p:txBody>
      </p:sp>
      <p:sp>
        <p:nvSpPr>
          <p:cNvPr id="8" name="circulo resp 1"/>
          <p:cNvSpPr/>
          <p:nvPr/>
        </p:nvSpPr>
        <p:spPr>
          <a:xfrm>
            <a:off x="7818120" y="2221992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o resp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350008"/>
            <a:ext cx="274320" cy="274320"/>
          </a:xfrm>
          <a:prstGeom prst="rect">
            <a:avLst/>
          </a:prstGeom>
        </p:spPr>
      </p:pic>
      <p:sp>
        <p:nvSpPr>
          <p:cNvPr id="10" name="texto resp 1"/>
          <p:cNvSpPr txBox="1"/>
          <p:nvPr/>
        </p:nvSpPr>
        <p:spPr>
          <a:xfrm>
            <a:off x="8503920" y="21671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pedido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Botón "Generar respaldo ahora" y descarga .sql</a:t>
            </a:r>
            <a:endParaRPr lang="en-US" sz="1500" dirty="0"/>
          </a:p>
        </p:txBody>
      </p:sp>
      <p:sp>
        <p:nvSpPr>
          <p:cNvPr id="11" name="circulo resp 2"/>
          <p:cNvSpPr/>
          <p:nvPr/>
        </p:nvSpPr>
        <p:spPr>
          <a:xfrm>
            <a:off x="7818120" y="3118104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resp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246120"/>
            <a:ext cx="274320" cy="274320"/>
          </a:xfrm>
          <a:prstGeom prst="rect">
            <a:avLst/>
          </a:prstGeom>
        </p:spPr>
      </p:pic>
      <p:sp>
        <p:nvSpPr>
          <p:cNvPr id="13" name="texto resp 2"/>
          <p:cNvSpPr txBox="1"/>
          <p:nvPr/>
        </p:nvSpPr>
        <p:spPr>
          <a:xfrm>
            <a:off x="85039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pg_dump o JDBC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 pg_dump; si no existe, exporta por JDBC</a:t>
            </a:r>
            <a:endParaRPr lang="en-US" sz="1500" dirty="0"/>
          </a:p>
        </p:txBody>
      </p:sp>
      <p:sp>
        <p:nvSpPr>
          <p:cNvPr id="14" name="circulo resp 3"/>
          <p:cNvSpPr/>
          <p:nvPr/>
        </p:nvSpPr>
        <p:spPr>
          <a:xfrm>
            <a:off x="7818120" y="4014216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ono resp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142232"/>
            <a:ext cx="274320" cy="274320"/>
          </a:xfrm>
          <a:prstGeom prst="rect">
            <a:avLst/>
          </a:prstGeom>
        </p:spPr>
      </p:pic>
      <p:sp>
        <p:nvSpPr>
          <p:cNvPr id="16" name="texto resp 3"/>
          <p:cNvSpPr txBox="1"/>
          <p:nvPr/>
        </p:nvSpPr>
        <p:spPr>
          <a:xfrm>
            <a:off x="8503920" y="39593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Restauración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scripts\restaurar.ps1 o Query Tool de pgAdmin</a:t>
            </a:r>
            <a:endParaRPr lang="en-US" sz="1500" dirty="0"/>
          </a:p>
        </p:txBody>
      </p:sp>
      <p:sp>
        <p:nvSpPr>
          <p:cNvPr id="17" name="circulo resp 4"/>
          <p:cNvSpPr/>
          <p:nvPr/>
        </p:nvSpPr>
        <p:spPr>
          <a:xfrm>
            <a:off x="7818120" y="4910328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cono resp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5038344"/>
            <a:ext cx="274320" cy="274320"/>
          </a:xfrm>
          <a:prstGeom prst="rect">
            <a:avLst/>
          </a:prstGeom>
        </p:spPr>
      </p:pic>
      <p:sp>
        <p:nvSpPr>
          <p:cNvPr id="19" name="texto resp 4"/>
          <p:cNvSpPr txBox="1"/>
          <p:nvPr/>
        </p:nvSpPr>
        <p:spPr>
          <a:xfrm>
            <a:off x="8503920" y="48554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Trazable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respaldo queda en la auditoría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del respaldo y configuración de la conexión</a:t>
            </a:r>
            <a:endParaRPr lang="en-US" sz="2800" dirty="0"/>
          </a:p>
        </p:txBody>
      </p:sp>
      <p:pic>
        <p:nvPicPr>
          <p:cNvPr id="3" name="codigo respaldo" descr="/tmp/claude-0/-home-user-Sigem-Proyect/d0cfea49-2aed-54b6-8bc8-7e1babbccb9a/scratchpad/ppt/img/c-respal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5326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propiedades" descr="/tmp/claude-0/-home-user-Sigem-Proyect/d0cfea49-2aed-54b6-8bc8-7e1babbccb9a/scratchpad/ppt/img/c-pr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80160"/>
            <a:ext cx="4069080" cy="173221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caja verificacion"/>
          <p:cNvSpPr/>
          <p:nvPr/>
        </p:nvSpPr>
        <p:spPr>
          <a:xfrm>
            <a:off x="7543800" y="3332419"/>
            <a:ext cx="4069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verificacion"/>
          <p:cNvSpPr txBox="1"/>
          <p:nvPr/>
        </p:nvSpPr>
        <p:spPr>
          <a:xfrm>
            <a:off x="7726680" y="3469579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Restauración verificada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Respaldo restaurado en una base nueva: mismos 28 usuarios, 32 maquinarias y bitácora completa.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Contraseñas fuera del código: variables de entorno (DB_PASSWORD).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Integración: base de datos, backend y frontend</a:t>
            </a:r>
            <a:endParaRPr lang="en-US" sz="2800" dirty="0"/>
          </a:p>
        </p:txBody>
      </p:sp>
      <p:pic>
        <p:nvPicPr>
          <p:cNvPr id="3" name="db servicio" descr="/tmp/claude-0/-home-user-Sigem-Proyect/d0cfea49-2aed-54b6-8bc8-7e1babbccb9a/scratchpad/img/term-db-serv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103023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db auditoria" descr="/tmp/claude-0/-home-user-Sigem-Proyect/d0cfea49-2aed-54b6-8bc8-7e1babbccb9a/scratchpad/img/term-db-audito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8990"/>
            <a:ext cx="6035040" cy="161059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api" descr="/tmp/claude-0/-home-user-Sigem-Proyect/d0cfea49-2aed-54b6-8bc8-7e1babbccb9a/scratchpad/img/term-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4800600" cy="352233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TDD: pruebas automatizadas</a:t>
            </a:r>
            <a:endParaRPr lang="en-US" sz="2800" dirty="0"/>
          </a:p>
        </p:txBody>
      </p:sp>
      <p:pic>
        <p:nvPicPr>
          <p:cNvPr id="3" name="tests" descr="/tmp/claude-0/-home-user-Sigem-Proyect/d0cfea49-2aed-54b6-8bc8-7e1babbccb9a/scratchpad/ppt/img/c-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222234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graphicFrame>
        <p:nvGraphicFramePr>
          <p:cNvPr id="25" name="tabla prueb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80160"/>
          <a:ext cx="4434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Prueba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Verifica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ValidadorDisponibilidadTest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Doble asignación, mantenimiento, licencia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ServicioServiceEjecucionTest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Horas y km de uso al cerrar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PlanMantenimientoTest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OK / próximo 90 % / vencido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RepuestoImportServiceTest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Importación Excel y kardex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ExportadoresTest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Excel y PDF válidos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RespaldoServiceTest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Nombres de respaldo seguros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SeguridadIntegracionTest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401, 403, CSRF, JWT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3" name="stat 0"/>
          <p:cNvSpPr txBox="1"/>
          <p:nvPr/>
        </p:nvSpPr>
        <p:spPr>
          <a:xfrm>
            <a:off x="64008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4" name="stat texto 0"/>
          <p:cNvSpPr txBox="1"/>
          <p:nvPr/>
        </p:nvSpPr>
        <p:spPr>
          <a:xfrm>
            <a:off x="64008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requisitos funcionales implementados</a:t>
            </a:r>
            <a:endParaRPr lang="en-US" sz="1600" dirty="0"/>
          </a:p>
        </p:txBody>
      </p:sp>
      <p:sp>
        <p:nvSpPr>
          <p:cNvPr id="5" name="stat 1"/>
          <p:cNvSpPr txBox="1"/>
          <p:nvPr/>
        </p:nvSpPr>
        <p:spPr>
          <a:xfrm>
            <a:off x="342900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6600" dirty="0"/>
          </a:p>
        </p:txBody>
      </p:sp>
      <p:sp>
        <p:nvSpPr>
          <p:cNvPr id="6" name="stat texto 1"/>
          <p:cNvSpPr txBox="1"/>
          <p:nvPr/>
        </p:nvSpPr>
        <p:spPr>
          <a:xfrm>
            <a:off x="342900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pruebas automatizadas correctas</a:t>
            </a:r>
            <a:endParaRPr lang="en-US" sz="1600" dirty="0"/>
          </a:p>
        </p:txBody>
      </p:sp>
      <p:sp>
        <p:nvSpPr>
          <p:cNvPr id="7" name="stat 2"/>
          <p:cNvSpPr txBox="1"/>
          <p:nvPr/>
        </p:nvSpPr>
        <p:spPr>
          <a:xfrm>
            <a:off x="621792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600" dirty="0"/>
          </a:p>
        </p:txBody>
      </p:sp>
      <p:sp>
        <p:nvSpPr>
          <p:cNvPr id="8" name="stat texto 2"/>
          <p:cNvSpPr txBox="1"/>
          <p:nvPr/>
        </p:nvSpPr>
        <p:spPr>
          <a:xfrm>
            <a:off x="621792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tablas en PostgreSQL</a:t>
            </a:r>
            <a:endParaRPr lang="en-US" sz="1600" dirty="0"/>
          </a:p>
        </p:txBody>
      </p:sp>
      <p:sp>
        <p:nvSpPr>
          <p:cNvPr id="9" name="stat 3"/>
          <p:cNvSpPr txBox="1"/>
          <p:nvPr/>
        </p:nvSpPr>
        <p:spPr>
          <a:xfrm>
            <a:off x="900684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600" dirty="0"/>
          </a:p>
        </p:txBody>
      </p:sp>
      <p:sp>
        <p:nvSpPr>
          <p:cNvPr id="10" name="stat texto 3"/>
          <p:cNvSpPr txBox="1"/>
          <p:nvPr/>
        </p:nvSpPr>
        <p:spPr>
          <a:xfrm>
            <a:off x="900684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roles con su propio panel</a:t>
            </a:r>
            <a:endParaRPr lang="en-US" sz="1600" dirty="0"/>
          </a:p>
        </p:txBody>
      </p:sp>
      <p:sp>
        <p:nvSpPr>
          <p:cNvPr id="11" name="resumen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Arquitectura MVC en capas · DTO y DAO · principios SOLID · seguridad por rol · auditoría y respaldo automático</a:t>
            </a:r>
            <a:endParaRPr lang="en-US" sz="1600" dirty="0"/>
          </a:p>
        </p:txBody>
      </p:sp>
      <p:sp>
        <p:nvSpPr>
          <p:cNvPr id="12" name="gracias"/>
          <p:cNvSpPr txBox="1"/>
          <p:nvPr/>
        </p:nvSpPr>
        <p:spPr>
          <a:xfrm>
            <a:off x="64008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3" name="repositorio"/>
          <p:cNvSpPr txBox="1"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github.com/aidanvargas3004-lang/Sigem_Proyect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EM Industrial">
  <a:themeElements>
    <a:clrScheme name="SIGEM Industrial">
      <a:dk1>
        <a:srgbClr val="1B2430"/>
      </a:dk1>
      <a:lt1>
        <a:srgbClr val="FFFFFF"/>
      </a:lt1>
      <a:dk2>
        <a:srgbClr val="3A4757"/>
      </a:dk2>
      <a:lt2>
        <a:srgbClr val="F3F5F8"/>
      </a:lt2>
      <a:accent1>
        <a:srgbClr val="F2A900"/>
      </a:accent1>
      <a:accent2>
        <a:srgbClr val="2F6F8F"/>
      </a:accent2>
      <a:accent3>
        <a:srgbClr val="4C9A6A"/>
      </a:accent3>
      <a:accent4>
        <a:srgbClr val="C8553D"/>
      </a:accent4>
      <a:accent5>
        <a:srgbClr val="8A97A6"/>
      </a:accent5>
      <a:accent6>
        <a:srgbClr val="6B5CA5"/>
      </a:accent6>
      <a:hlink>
        <a:srgbClr val="2F6F8F"/>
      </a:hlink>
      <a:folHlink>
        <a:srgbClr val="6B5CA5"/>
      </a:folHlink>
    </a:clrScheme>
    <a:fontScheme name="SIGEM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SIGEM — Sistema Integral de Gestión de Flotas y Maquinaria</dc:title>
  <dc:subject>PptxGenJS Presentation</dc:subject>
  <dc:creator>Grupo 2 — Curso Integrador I</dc:creator>
  <cp:lastModifiedBy>Grupo 2 — Curso Integrador I</cp:lastModifiedBy>
  <cp:revision>1</cp:revision>
  <dcterms:created xsi:type="dcterms:W3CDTF">2026-10-14T23:11:50Z</dcterms:created>
  <dcterms:modified xsi:type="dcterms:W3CDTF">2026-10-14T23:11:50Z</dcterms:modified>
</cp:coreProperties>
</file>